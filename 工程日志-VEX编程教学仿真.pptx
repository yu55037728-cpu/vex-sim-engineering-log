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9" Type="http://schemas.openxmlformats.org/officeDocument/2006/relationships/slide" Target="slides/slide9.xml" /><Relationship Id="rId3" Type="http://schemas.openxmlformats.org/officeDocument/2006/relationships/slide" Target="slides/slide3.xml" /><Relationship Id="rId14" Type="http://schemas.openxmlformats.org/officeDocument/2006/relationships/notesMaster" Target="notesMasters/notesMaster1.xml" /><Relationship Id="rId16" Type="http://schemas.openxmlformats.org/officeDocument/2006/relationships/tableStyles" Target="tableStyles.xml" /><Relationship Id="rId5" Type="http://schemas.openxmlformats.org/officeDocument/2006/relationships/slide" Target="slides/slide5.xml" /><Relationship Id="rId15" Type="http://schemas.openxmlformats.org/officeDocument/2006/relationships/presProps" Target="presProps.xml" /><Relationship Id="rId17" Type="http://schemas.openxmlformats.org/officeDocument/2006/relationships/viewProps" Target="viewProps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2" Type="http://schemas.openxmlformats.org/officeDocument/2006/relationships/slide" Target="slides/slide2.xml" /><Relationship Id="rId7" Type="http://schemas.openxmlformats.org/officeDocument/2006/relationships/slide" Target="slides/slide7.xml" /><Relationship Id="rId10" Type="http://schemas.openxmlformats.org/officeDocument/2006/relationships/slide" Target="slides/slide10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 style={{ width: '1280px', height: '720px', padding: 0, background: '#0A0E16', position: 'relative', overflow: 'hidden' }}&gt;&#10;  {/* 背景光晕装饰 */}&#10;  &lt;Box style={{ position: 'absolute', top: -260, right: -180, width: 720, height: 720, borderRadius: 360, background: 'radial-gradient(circle, rgba(126,214,245,0.16) 0%, rgba(126,214,245,0) 65%)' }} /&gt;&#10;  &lt;Box style={{ position: 'absolute', bottom: -300, left: -200, width: 760, height: 760, borderRadius: 380, background: 'radial-gradient(circle, rgba(255,217,77,0.07) 0%, rgba(255,217,77,0) 60%)' }} /&gt;&#10;  &lt;Box style={{ position: 'absolute', top: 0, left: 0, width: 4, height: 720, background: 'linear-gradient(180deg, rgba(126,214,245,.9), rgba(126,214,245,.05))' }} /&gt;&#10;  {/* 主内容 */}&#10;  &lt;Box style={{ position: 'relative', height: '100%', padding: '72px 96px', justifyContent: 'space-between' }}&gt;&#10;    &lt;Box style={{ flexDirection: 'row', alignItems: 'center', gap: 14 }}&gt;&#10;      &lt;Text style={{ fontSize: 15, color: 'rgba(255,255,255,.55)', letterSpacing: '.42em', fontFamily: 'Helvetica Neue' }}&gt;VEX-SIM · PROJECT LOG&lt;/Text&gt;&#10;      &lt;Box style={{ width: 44, height: 1, background: 'rgba(126,214,245,.6)' }} /&gt;&#10;      &lt;Text style={{ fontSize: 15, color: 'rgba(126,214,245,.9)', letterSpacing: '.2em', fontFamily: 'Helvetica Neue' }}&gt;2026&lt;/Text&gt;&#10;    &lt;/Box&gt;&#10;    &lt;Box&gt;&#10;      &lt;Text style={{ fontSize: 88, fontWeight: 'bold', color: '#FFFFFF', lineHeight: 1.12, letterSpacing: '.02em', fontFamily: 'PingFang SC' }}&gt;&#10;        VEX V5 编程教学仿真&#10;      &lt;/Text&gt;&#10;      &lt;Text style={{ fontSize: 88, fontWeight: 'bold', lineHeight: 1.12, letterSpacing: '.02em', backgroundImage: 'linear-gradient(135deg, #7ED6F5 0%, #FFD94D 100%)', backgroundClip: 'text', color: 'transparent', fontFamily: 'PingFang SC', marginTop: 2 }}&gt;&#10;        工程日志&#10;      &lt;/Text&gt;&#10;      &lt;Box style={{ width: 120, height: 2, background: 'rgba(255,255,255,.85)', marginTop: 28 }} /&gt;&#10;      &lt;Box style={{ flexDirection: 'row', alignItems: 'center', gap: 18, marginTop: 22 }}&gt;&#10;        &lt;Text style={{ fontSize: 20, color: 'rgba(255,255,255,.72)', letterSpacing: '.1em', fontFamily: 'Helvetica Neue' }}&gt;2026.08.18 — 09.06&lt;/Text&gt;&#10;        &lt;Box style={{ width: 1, height: 16, background: 'rgba(255,255,255,.25)' }} /&gt;&#10;        &lt;Text style={{ fontSize: 20, color: 'rgba(126,214,245,.9)', letterSpacing: '.14em', fontFamily: 'PingFang SC' }}&gt;v1 → 训练模式 · 深色科技风&lt;/Text&gt;&#10;      &lt;/Box&gt;&#10;    &lt;/Box&gt;&#10;    &lt;Box style={{ flexDirection: 'row', alignItems: 'flex-end', justifyContent: 'space-between' }}&gt;&#10;      &lt;Text style={{ fontSize: 15, color: 'rgba(255,255,255,.38)', letterSpacing: '.18em', fontFamily: 'PingFang SC' }}&gt;纯前端 VEX 仿真 · 编辑器 × 3D 场景 × 云端分享&lt;/Text&gt;&#10;      &lt;Text style={{ fontSize: 15, color: 'rgba(255,255,255,.38)', letterSpacing: '.1em', fontFamily: 'Helvetica Neue' }}&gt;ENGINEERING LOG · 13 PAGES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16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048500" y="-2476500"/>
            <a:ext cx="6858000" cy="6858000"/>
          </a:xfrm>
          <a:custGeom>
            <a:pathLst>
              <a:path w="720" h="720">
                <a:moveTo>
                  <a:pt x="540" y="672"/>
                </a:moveTo>
                <a:lnTo>
                  <a:pt x="539" y="672"/>
                </a:lnTo>
                <a:lnTo>
                  <a:pt x="532" y="677"/>
                </a:lnTo>
                <a:lnTo>
                  <a:pt x="524" y="681"/>
                </a:lnTo>
                <a:lnTo>
                  <a:pt x="516" y="684"/>
                </a:lnTo>
                <a:lnTo>
                  <a:pt x="508" y="688"/>
                </a:lnTo>
                <a:lnTo>
                  <a:pt x="500" y="692"/>
                </a:lnTo>
                <a:lnTo>
                  <a:pt x="492" y="695"/>
                </a:lnTo>
                <a:lnTo>
                  <a:pt x="484" y="698"/>
                </a:lnTo>
                <a:lnTo>
                  <a:pt x="475" y="701"/>
                </a:lnTo>
                <a:lnTo>
                  <a:pt x="467" y="704"/>
                </a:lnTo>
                <a:lnTo>
                  <a:pt x="459" y="706"/>
                </a:lnTo>
                <a:lnTo>
                  <a:pt x="450" y="709"/>
                </a:lnTo>
                <a:lnTo>
                  <a:pt x="441" y="711"/>
                </a:lnTo>
                <a:lnTo>
                  <a:pt x="433" y="713"/>
                </a:lnTo>
                <a:lnTo>
                  <a:pt x="424" y="714"/>
                </a:lnTo>
                <a:lnTo>
                  <a:pt x="415" y="716"/>
                </a:lnTo>
                <a:lnTo>
                  <a:pt x="406" y="717"/>
                </a:lnTo>
                <a:lnTo>
                  <a:pt x="397" y="718"/>
                </a:lnTo>
                <a:lnTo>
                  <a:pt x="388" y="719"/>
                </a:lnTo>
                <a:lnTo>
                  <a:pt x="379" y="720"/>
                </a:lnTo>
                <a:lnTo>
                  <a:pt x="369" y="720"/>
                </a:lnTo>
                <a:lnTo>
                  <a:pt x="360" y="720"/>
                </a:lnTo>
                <a:lnTo>
                  <a:pt x="351" y="720"/>
                </a:lnTo>
                <a:lnTo>
                  <a:pt x="341" y="720"/>
                </a:lnTo>
                <a:lnTo>
                  <a:pt x="332" y="719"/>
                </a:lnTo>
                <a:lnTo>
                  <a:pt x="323" y="718"/>
                </a:lnTo>
                <a:lnTo>
                  <a:pt x="314" y="717"/>
                </a:lnTo>
                <a:lnTo>
                  <a:pt x="305" y="716"/>
                </a:lnTo>
                <a:lnTo>
                  <a:pt x="296" y="714"/>
                </a:lnTo>
                <a:lnTo>
                  <a:pt x="287" y="713"/>
                </a:lnTo>
                <a:lnTo>
                  <a:pt x="279" y="711"/>
                </a:lnTo>
                <a:lnTo>
                  <a:pt x="270" y="709"/>
                </a:lnTo>
                <a:lnTo>
                  <a:pt x="261" y="706"/>
                </a:lnTo>
                <a:lnTo>
                  <a:pt x="253" y="704"/>
                </a:lnTo>
                <a:lnTo>
                  <a:pt x="245" y="701"/>
                </a:lnTo>
                <a:lnTo>
                  <a:pt x="236" y="698"/>
                </a:lnTo>
                <a:lnTo>
                  <a:pt x="228" y="695"/>
                </a:lnTo>
                <a:lnTo>
                  <a:pt x="220" y="692"/>
                </a:lnTo>
                <a:lnTo>
                  <a:pt x="212" y="688"/>
                </a:lnTo>
                <a:lnTo>
                  <a:pt x="204" y="684"/>
                </a:lnTo>
                <a:lnTo>
                  <a:pt x="196" y="681"/>
                </a:lnTo>
                <a:lnTo>
                  <a:pt x="188" y="677"/>
                </a:lnTo>
                <a:lnTo>
                  <a:pt x="181" y="672"/>
                </a:lnTo>
                <a:lnTo>
                  <a:pt x="173" y="668"/>
                </a:lnTo>
                <a:lnTo>
                  <a:pt x="166" y="663"/>
                </a:lnTo>
                <a:lnTo>
                  <a:pt x="159" y="658"/>
                </a:lnTo>
                <a:lnTo>
                  <a:pt x="152" y="654"/>
                </a:lnTo>
                <a:lnTo>
                  <a:pt x="145" y="648"/>
                </a:lnTo>
                <a:lnTo>
                  <a:pt x="138" y="643"/>
                </a:lnTo>
                <a:lnTo>
                  <a:pt x="131" y="638"/>
                </a:lnTo>
                <a:lnTo>
                  <a:pt x="124" y="632"/>
                </a:lnTo>
                <a:lnTo>
                  <a:pt x="118" y="626"/>
                </a:lnTo>
                <a:lnTo>
                  <a:pt x="112" y="621"/>
                </a:lnTo>
                <a:lnTo>
                  <a:pt x="105" y="615"/>
                </a:lnTo>
                <a:lnTo>
                  <a:pt x="99" y="608"/>
                </a:lnTo>
                <a:lnTo>
                  <a:pt x="94" y="602"/>
                </a:lnTo>
                <a:lnTo>
                  <a:pt x="88" y="596"/>
                </a:lnTo>
                <a:lnTo>
                  <a:pt x="82" y="589"/>
                </a:lnTo>
                <a:lnTo>
                  <a:pt x="77" y="582"/>
                </a:lnTo>
                <a:lnTo>
                  <a:pt x="72" y="575"/>
                </a:lnTo>
                <a:lnTo>
                  <a:pt x="66" y="568"/>
                </a:lnTo>
                <a:lnTo>
                  <a:pt x="62" y="561"/>
                </a:lnTo>
                <a:lnTo>
                  <a:pt x="57" y="554"/>
                </a:lnTo>
                <a:lnTo>
                  <a:pt x="52" y="547"/>
                </a:lnTo>
                <a:lnTo>
                  <a:pt x="48" y="539"/>
                </a:lnTo>
                <a:lnTo>
                  <a:pt x="43" y="532"/>
                </a:lnTo>
                <a:lnTo>
                  <a:pt x="39" y="524"/>
                </a:lnTo>
                <a:lnTo>
                  <a:pt x="36" y="516"/>
                </a:lnTo>
                <a:lnTo>
                  <a:pt x="32" y="508"/>
                </a:lnTo>
                <a:lnTo>
                  <a:pt x="28" y="500"/>
                </a:lnTo>
                <a:lnTo>
                  <a:pt x="25" y="492"/>
                </a:lnTo>
                <a:lnTo>
                  <a:pt x="22" y="484"/>
                </a:lnTo>
                <a:lnTo>
                  <a:pt x="19" y="475"/>
                </a:lnTo>
                <a:lnTo>
                  <a:pt x="16" y="467"/>
                </a:lnTo>
                <a:lnTo>
                  <a:pt x="14" y="459"/>
                </a:lnTo>
                <a:lnTo>
                  <a:pt x="11" y="450"/>
                </a:lnTo>
                <a:lnTo>
                  <a:pt x="9" y="441"/>
                </a:lnTo>
                <a:lnTo>
                  <a:pt x="7" y="433"/>
                </a:lnTo>
                <a:lnTo>
                  <a:pt x="6" y="424"/>
                </a:lnTo>
                <a:lnTo>
                  <a:pt x="4" y="415"/>
                </a:lnTo>
                <a:lnTo>
                  <a:pt x="3" y="406"/>
                </a:lnTo>
                <a:lnTo>
                  <a:pt x="2" y="397"/>
                </a:lnTo>
                <a:lnTo>
                  <a:pt x="1" y="388"/>
                </a:lnTo>
                <a:lnTo>
                  <a:pt x="0" y="379"/>
                </a:lnTo>
                <a:lnTo>
                  <a:pt x="0" y="369"/>
                </a:lnTo>
                <a:lnTo>
                  <a:pt x="0" y="360"/>
                </a:lnTo>
                <a:lnTo>
                  <a:pt x="0" y="351"/>
                </a:lnTo>
                <a:lnTo>
                  <a:pt x="0" y="341"/>
                </a:lnTo>
                <a:lnTo>
                  <a:pt x="1" y="332"/>
                </a:lnTo>
                <a:lnTo>
                  <a:pt x="2" y="323"/>
                </a:lnTo>
                <a:lnTo>
                  <a:pt x="3" y="314"/>
                </a:lnTo>
                <a:lnTo>
                  <a:pt x="4" y="305"/>
                </a:lnTo>
                <a:lnTo>
                  <a:pt x="6" y="296"/>
                </a:lnTo>
                <a:lnTo>
                  <a:pt x="7" y="287"/>
                </a:lnTo>
                <a:lnTo>
                  <a:pt x="9" y="279"/>
                </a:lnTo>
                <a:lnTo>
                  <a:pt x="11" y="270"/>
                </a:lnTo>
                <a:lnTo>
                  <a:pt x="14" y="261"/>
                </a:lnTo>
                <a:lnTo>
                  <a:pt x="14" y="260"/>
                </a:lnTo>
                <a:lnTo>
                  <a:pt x="540" y="260"/>
                </a:lnTo>
                <a:close/>
              </a:path>
            </a:pathLst>
          </a:custGeom>
          <a:gradFill>
            <a:gsLst>
              <a:gs pos="0">
                <a:srgbClr val="7ED6F5">
                  <a:alpha val="16000"/>
                </a:srgbClr>
              </a:gs>
              <a:gs pos="65000">
                <a:srgbClr val="7ED6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1905000" y="2476500"/>
            <a:ext cx="7239000" cy="7239000"/>
          </a:xfrm>
          <a:custGeom>
            <a:pathLst>
              <a:path w="760" h="760">
                <a:moveTo>
                  <a:pt x="390" y="0"/>
                </a:moveTo>
                <a:lnTo>
                  <a:pt x="400" y="0"/>
                </a:lnTo>
                <a:lnTo>
                  <a:pt x="409" y="1"/>
                </a:lnTo>
                <a:lnTo>
                  <a:pt x="419" y="2"/>
                </a:lnTo>
                <a:lnTo>
                  <a:pt x="428" y="3"/>
                </a:lnTo>
                <a:lnTo>
                  <a:pt x="438" y="4"/>
                </a:lnTo>
                <a:lnTo>
                  <a:pt x="447" y="6"/>
                </a:lnTo>
                <a:lnTo>
                  <a:pt x="457" y="8"/>
                </a:lnTo>
                <a:lnTo>
                  <a:pt x="466" y="10"/>
                </a:lnTo>
                <a:lnTo>
                  <a:pt x="475" y="12"/>
                </a:lnTo>
                <a:lnTo>
                  <a:pt x="484" y="14"/>
                </a:lnTo>
                <a:lnTo>
                  <a:pt x="493" y="17"/>
                </a:lnTo>
                <a:lnTo>
                  <a:pt x="502" y="20"/>
                </a:lnTo>
                <a:lnTo>
                  <a:pt x="511" y="23"/>
                </a:lnTo>
                <a:lnTo>
                  <a:pt x="519" y="26"/>
                </a:lnTo>
                <a:lnTo>
                  <a:pt x="528" y="30"/>
                </a:lnTo>
                <a:lnTo>
                  <a:pt x="536" y="34"/>
                </a:lnTo>
                <a:lnTo>
                  <a:pt x="545" y="37"/>
                </a:lnTo>
                <a:lnTo>
                  <a:pt x="553" y="42"/>
                </a:lnTo>
                <a:lnTo>
                  <a:pt x="561" y="46"/>
                </a:lnTo>
                <a:lnTo>
                  <a:pt x="569" y="50"/>
                </a:lnTo>
                <a:lnTo>
                  <a:pt x="577" y="55"/>
                </a:lnTo>
                <a:lnTo>
                  <a:pt x="585" y="60"/>
                </a:lnTo>
                <a:lnTo>
                  <a:pt x="592" y="65"/>
                </a:lnTo>
                <a:lnTo>
                  <a:pt x="600" y="70"/>
                </a:lnTo>
                <a:lnTo>
                  <a:pt x="607" y="76"/>
                </a:lnTo>
                <a:lnTo>
                  <a:pt x="615" y="81"/>
                </a:lnTo>
                <a:lnTo>
                  <a:pt x="622" y="87"/>
                </a:lnTo>
                <a:lnTo>
                  <a:pt x="629" y="93"/>
                </a:lnTo>
                <a:lnTo>
                  <a:pt x="635" y="99"/>
                </a:lnTo>
                <a:lnTo>
                  <a:pt x="642" y="105"/>
                </a:lnTo>
                <a:lnTo>
                  <a:pt x="649" y="111"/>
                </a:lnTo>
                <a:lnTo>
                  <a:pt x="655" y="118"/>
                </a:lnTo>
                <a:lnTo>
                  <a:pt x="661" y="125"/>
                </a:lnTo>
                <a:lnTo>
                  <a:pt x="667" y="131"/>
                </a:lnTo>
                <a:lnTo>
                  <a:pt x="673" y="138"/>
                </a:lnTo>
                <a:lnTo>
                  <a:pt x="679" y="145"/>
                </a:lnTo>
                <a:lnTo>
                  <a:pt x="684" y="153"/>
                </a:lnTo>
                <a:lnTo>
                  <a:pt x="690" y="160"/>
                </a:lnTo>
                <a:lnTo>
                  <a:pt x="695" y="168"/>
                </a:lnTo>
                <a:lnTo>
                  <a:pt x="700" y="175"/>
                </a:lnTo>
                <a:lnTo>
                  <a:pt x="705" y="183"/>
                </a:lnTo>
                <a:lnTo>
                  <a:pt x="710" y="191"/>
                </a:lnTo>
                <a:lnTo>
                  <a:pt x="714" y="199"/>
                </a:lnTo>
                <a:lnTo>
                  <a:pt x="718" y="207"/>
                </a:lnTo>
                <a:lnTo>
                  <a:pt x="723" y="215"/>
                </a:lnTo>
                <a:lnTo>
                  <a:pt x="726" y="224"/>
                </a:lnTo>
                <a:lnTo>
                  <a:pt x="730" y="232"/>
                </a:lnTo>
                <a:lnTo>
                  <a:pt x="734" y="241"/>
                </a:lnTo>
                <a:lnTo>
                  <a:pt x="737" y="249"/>
                </a:lnTo>
                <a:lnTo>
                  <a:pt x="740" y="258"/>
                </a:lnTo>
                <a:lnTo>
                  <a:pt x="743" y="267"/>
                </a:lnTo>
                <a:lnTo>
                  <a:pt x="746" y="276"/>
                </a:lnTo>
                <a:lnTo>
                  <a:pt x="748" y="285"/>
                </a:lnTo>
                <a:lnTo>
                  <a:pt x="750" y="294"/>
                </a:lnTo>
                <a:lnTo>
                  <a:pt x="752" y="303"/>
                </a:lnTo>
                <a:lnTo>
                  <a:pt x="754" y="313"/>
                </a:lnTo>
                <a:lnTo>
                  <a:pt x="756" y="322"/>
                </a:lnTo>
                <a:lnTo>
                  <a:pt x="757" y="332"/>
                </a:lnTo>
                <a:lnTo>
                  <a:pt x="758" y="341"/>
                </a:lnTo>
                <a:lnTo>
                  <a:pt x="759" y="351"/>
                </a:lnTo>
                <a:lnTo>
                  <a:pt x="760" y="360"/>
                </a:lnTo>
                <a:lnTo>
                  <a:pt x="760" y="370"/>
                </a:lnTo>
                <a:lnTo>
                  <a:pt x="760" y="380"/>
                </a:lnTo>
                <a:lnTo>
                  <a:pt x="760" y="390"/>
                </a:lnTo>
                <a:lnTo>
                  <a:pt x="760" y="400"/>
                </a:lnTo>
                <a:lnTo>
                  <a:pt x="759" y="409"/>
                </a:lnTo>
                <a:lnTo>
                  <a:pt x="758" y="419"/>
                </a:lnTo>
                <a:lnTo>
                  <a:pt x="757" y="428"/>
                </a:lnTo>
                <a:lnTo>
                  <a:pt x="756" y="438"/>
                </a:lnTo>
                <a:lnTo>
                  <a:pt x="754" y="447"/>
                </a:lnTo>
                <a:lnTo>
                  <a:pt x="752" y="457"/>
                </a:lnTo>
                <a:lnTo>
                  <a:pt x="752" y="460"/>
                </a:lnTo>
                <a:lnTo>
                  <a:pt x="200" y="460"/>
                </a:lnTo>
                <a:lnTo>
                  <a:pt x="200" y="45"/>
                </a:lnTo>
                <a:lnTo>
                  <a:pt x="207" y="42"/>
                </a:lnTo>
                <a:lnTo>
                  <a:pt x="215" y="37"/>
                </a:lnTo>
                <a:lnTo>
                  <a:pt x="224" y="34"/>
                </a:lnTo>
                <a:lnTo>
                  <a:pt x="232" y="30"/>
                </a:lnTo>
                <a:lnTo>
                  <a:pt x="241" y="26"/>
                </a:lnTo>
                <a:lnTo>
                  <a:pt x="249" y="23"/>
                </a:lnTo>
                <a:lnTo>
                  <a:pt x="258" y="20"/>
                </a:lnTo>
                <a:lnTo>
                  <a:pt x="267" y="17"/>
                </a:lnTo>
                <a:lnTo>
                  <a:pt x="276" y="14"/>
                </a:lnTo>
                <a:lnTo>
                  <a:pt x="285" y="12"/>
                </a:lnTo>
                <a:lnTo>
                  <a:pt x="294" y="10"/>
                </a:lnTo>
                <a:lnTo>
                  <a:pt x="303" y="8"/>
                </a:lnTo>
                <a:lnTo>
                  <a:pt x="313" y="6"/>
                </a:lnTo>
                <a:lnTo>
                  <a:pt x="322" y="4"/>
                </a:lnTo>
                <a:lnTo>
                  <a:pt x="332" y="3"/>
                </a:lnTo>
                <a:lnTo>
                  <a:pt x="341" y="2"/>
                </a:lnTo>
                <a:lnTo>
                  <a:pt x="351" y="1"/>
                </a:lnTo>
                <a:lnTo>
                  <a:pt x="360" y="0"/>
                </a:lnTo>
                <a:lnTo>
                  <a:pt x="370" y="0"/>
                </a:lnTo>
                <a:lnTo>
                  <a:pt x="380" y="0"/>
                </a:lnTo>
                <a:close/>
              </a:path>
            </a:pathLst>
          </a:custGeom>
          <a:gradFill>
            <a:gsLst>
              <a:gs pos="0">
                <a:srgbClr val="FFD94D">
                  <a:alpha val="7000"/>
                </a:srgbClr>
              </a:gs>
              <a:gs pos="60000">
                <a:srgbClr val="FFD94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38100" cy="6858000"/>
          </a:xfrm>
          <a:prstGeom prst="rect">
            <a:avLst/>
          </a:prstGeom>
          <a:gradFill>
            <a:gsLst>
              <a:gs pos="0">
                <a:srgbClr val="7ED6F5">
                  <a:alpha val="90000"/>
                </a:srgbClr>
              </a:gs>
              <a:gs pos="100000">
                <a:srgbClr val="7ED6F5">
                  <a:alpha val="5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14400" y="685800"/>
            <a:ext cx="167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55000"/>
                  </a:srgbClr>
                </a:solidFill>
                <a:latin typeface="Helvetica Neue"/>
                <a:ea typeface="Helvetica Neue"/>
              </a:rPr>
              <a:t>VEX-SIM · PROJECT LOG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2724150" y="771525"/>
            <a:ext cx="419100" cy="9525"/>
          </a:xfrm>
          <a:prstGeom prst="rect">
            <a:avLst/>
          </a:prstGeom>
          <a:solidFill>
            <a:srgbClr val="7ED6F5">
              <a:alpha val="60000"/>
            </a:srgbClr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3276600" y="685800"/>
            <a:ext cx="323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ED6F5">
                    <a:alpha val="90000"/>
                  </a:srgbClr>
                </a:solidFill>
                <a:latin typeface="Helvetica Neue"/>
                <a:ea typeface="Helvetica Neue"/>
              </a:rPr>
              <a:t>2026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14400" y="1924050"/>
            <a:ext cx="10363200" cy="113347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en-US" sz="6600" b="1">
                <a:solidFill>
                  <a:srgbClr val="FFFFFF"/>
                </a:solidFill>
                <a:latin typeface="PingFang SC"/>
                <a:ea typeface="PingFang SC"/>
              </a:rPr>
              <a:t>VEX V5 </a:t>
            </a:r>
            <a:r>
              <a:rPr lang="zh-CN" sz="6600" b="1">
                <a:solidFill>
                  <a:srgbClr val="FFFFFF"/>
                </a:solidFill>
                <a:latin typeface="PingFang SC"/>
                <a:ea typeface="PingFang SC"/>
              </a:rPr>
              <a:t>编程教学仿真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14400" y="3076575"/>
            <a:ext cx="10363200" cy="113347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6600" b="1">
                <a:gradFill>
                  <a:gsLst>
                    <a:gs pos="0">
                      <a:srgbClr val="7ED6F5"/>
                    </a:gs>
                    <a:gs pos="100000">
                      <a:srgbClr val="FFD94D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工程日志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914400" y="4476750"/>
            <a:ext cx="1143000" cy="1905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14400" y="4705350"/>
            <a:ext cx="1733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FFFFFF">
                    <a:alpha val="72000"/>
                  </a:srgbClr>
                </a:solidFill>
                <a:latin typeface="Helvetica Neue"/>
                <a:ea typeface="Helvetica Neue"/>
              </a:rPr>
              <a:t>2026.08.18 — 09.06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819400" y="4743450"/>
            <a:ext cx="9525" cy="1524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000375" y="4705350"/>
            <a:ext cx="2428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v1 → </a:t>
            </a:r>
            <a:r>
              <a:rPr lang="zh-CN" sz="1500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训练模式</a:t>
            </a:r>
            <a:r>
              <a:rPr lang="en-US" sz="1500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深色科技风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914400" y="60007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纯前端</a:t>
            </a:r>
            <a:r>
              <a:rPr lang="en-US" sz="112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VEX </a:t>
            </a:r>
            <a:r>
              <a:rPr lang="zh-CN" sz="112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仿真</a:t>
            </a:r>
            <a:r>
              <a:rPr lang="en-US" sz="112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12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编辑器</a:t>
            </a:r>
            <a:r>
              <a:rPr lang="en-US" sz="112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× 3D </a:t>
            </a:r>
            <a:r>
              <a:rPr lang="zh-CN" sz="112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场景</a:t>
            </a:r>
            <a:r>
              <a:rPr lang="en-US" sz="112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× </a:t>
            </a:r>
            <a:r>
              <a:rPr lang="zh-CN" sz="112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云端分享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191625" y="6000750"/>
            <a:ext cx="2085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38000"/>
                  </a:srgbClr>
                </a:solidFill>
                <a:latin typeface="Helvetica Neue"/>
                <a:ea typeface="Helvetica Neue"/>
              </a:rPr>
              <a:t>ENGINEERING LOG · 13 PAGES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35" name="" descr="&lt;Slide style={{ width: '1280px', height: '720px', padding: 0, background: '#0A0E16' }}&gt;&#10;  &lt;Box style={{ height: '100%', padding: '30px 64px 20px', justifyContent: 'space-between' }}&gt;&#10;    {/* A 标题块 */}&#10;    &lt;Box style={{ flexDirection: 'row', alignItems: 'center', gap: 16, height: 74 }}&gt;&#10;      &lt;Box style={{ width: 4, height: 34, background: '#7ED6F5' }} /&gt;&#10;      &lt;Box&gt;&#10;        &lt;Text style={{ fontSize: 34, fontWeight: 'bold', color: '#FFFFFF', letterSpacing: '.02em', fontFamily: 'PingFang SC' }}&gt;项目概览&lt;/Text&gt;&#10;        &lt;Text style={{ fontSize: 14, color: 'rgba(255,255,255,.45)', letterSpacing: '.2em', fontFamily: 'Helvetica Neue', marginTop: 2 }}&gt;OVERVIEW&lt;/Text&gt;&#10;      &lt;/Box&gt;&#10;    &lt;/Box&gt;&#10;    {/* B 内容区：左 38 右 62 */}&#10;    &lt;Box style={{ flex: 1, flexDirection: 'row', gap: 40, minHeight: 0 }}&gt;&#10;      &lt;Box style={{ width: '38%', justifyContent: 'center', gap: 22 }}&gt;&#10;        &lt;Box&gt;&#10;          &lt;Text style={{ fontSize: 22, fontWeight: 'bold', color: '#7ED6F5', letterSpacing: '.06em', fontFamily: 'PingFang SC', marginBottom: 10 }}&gt;定位&lt;/Text&gt;&#10;          &lt;Text style={{ fontSize: 19, color: 'rgba(255,255,255,.82)', lineHeight: 1.7, fontFamily: 'PingFang SC' }}&gt;面向机器人教学的可编程 VEX V5 仿真器：左侧编写 C++ 风格代码，右侧 3D 场地实时驱动 Clawbot 执行。&lt;/Text&gt;&#10;        &lt;/Box&gt;&#10;        &lt;Box style={{ width: '100%', height: 1, background: 'rgba(255,255,255,.08)' }} /&gt;&#10;        &lt;Box&gt;&#10;          &lt;Text style={{ fontSize: 22, fontWeight: 'bold', color: '#7ED6F5', letterSpacing: '.06em', fontFamily: 'PingFang SC', marginBottom: 10 }}&gt;形态&lt;/Text&gt;&#10;          &lt;Text style={{ fontSize: 18, color: 'rgba(255,255,255,.72)', lineHeight: 1.7, fontFamily: 'PingFang SC' }}&gt;纯前端静态 Web：HTML + Three.js，无后端。CloudStudio 托管，浏览器即开即用；本地可直接 file:// 打开。&lt;/Text&gt;&#10;        &lt;/Box&gt;&#10;        &lt;Box style={{ width: '100%', height: 1, background: 'rgba(255,255,255,.08)' }} /&gt;&#10;        &lt;Box&gt;&#10;          &lt;Text style={{ fontSize: 22, fontWeight: 'bold', color: '#7ED6F5', letterSpacing: '.06em', fontFamily: 'PingFang SC', marginBottom: 10 }}&gt;能力面&lt;/Text&gt;&#10;          &lt;Text style={{ fontSize: 18, color: 'rgba(255,255,255,.72)', lineHeight: 1.8, fontFamily: 'PingFang SC' }}&gt;静态检查 · AI 生成 · 超声波仿真 · if/while 控制流 · 训练模式与 merit 积分。&lt;/Text&gt;&#10;        &lt;/Box&gt;&#10;      &lt;/Box&gt;&#10;      {/* 右 62%：数据流管线 */}&#10;      &lt;Box style={{ width: '62%', background: 'rgba(255,255,255,.045)', border: '1px solid rgba(255,255,255,.09)', borderRadius: 6, padding: '30px 34px', justifyContent: 'center', gap: 0 }}&gt;&#10;        &lt;Text style={{ fontSize: 16, color: 'rgba(126,214,245,.85)', letterSpacing: '.28em', fontFamily: 'Helvetica Neue', marginBottom: 22 }}&gt;CORE PIPELINE&lt;/Text&gt;&#10;        {[&#10;          ['linter.parseBlock', '递归下降解析 → AST → extractCommands（含 if/else/while）'],&#10;          ['sim.execStack', '顺序帧 + 循环帧分帧推进 → SceneAPI.robot.* 驱动'],&#10;          ['scene.render', '按需渲染 3D；帧回调：到达检测 / 吸附推球 / 超声波'],&#10;          ['app.console', '彩色状态日志滚入右下控制台，实时反馈运行期信息'],&#10;        ].map((it, i) =&gt; (&#10;          &lt;Box key={i} style={{ flexDirection: 'row', gap: 18, padding: '15px 0', borderTop: i === 0 ? 'none' : '1px solid rgba(255,255,255,.06)' }}&gt;&#10;            &lt;Text style={{ fontSize: 17, color: '#FFD94D', fontFamily: 'Menlo, monospace', paddingTop: 2 }}&gt;0{i + 1}&lt;/Text&gt;&#10;            &lt;Box style={{ flex: 1 }}&gt;&#10;              &lt;Text style={{ fontSize: 19, fontWeight: 'bold', color: '#FFFFFF', fontFamily: 'Menlo, monospace', letterSpacing: '.02em' }}&gt;{it[0]}&lt;/Text&gt;&#10;              &lt;Text style={{ fontSize: 16, color: 'rgba(255,255,255,.6)', lineHeight: 1.6, fontFamily: 'PingFang SC', marginTop: 4 }}&gt;{it[1]}&lt;/Text&gt;&#10;            &lt;/Box&gt;&#10;          &lt;/Box&gt;&#10;        ))}&#10;        &lt;Box style={{ flexDirection: 'row', alignItems: 'center', gap: 12, marginTop: 20, paddingTop: 18, borderTop: '1px solid rgba(255,255,255,.09)' }}&gt;&#10;          &lt;Box style={{ width: 8, height: 8, borderRadius: 4, background: '#7ED6F5' }} /&gt;&#10;          &lt;Text style={{ fontSize: 16, color: 'rgba(255,255,255,.55)', fontFamily: 'PingFang SC', lineHeight: 1.6 }}&gt;判断：一个纯前端产物，覆盖了从语法解析、分帧物理到实时反馈的完整可编程闭环。&lt;/Text&gt;&#10;        &lt;/Box&gt;&#10;      &lt;/Box&gt;&#10;    &lt;/Box&gt;&#10;    {/* C 页脚 */}&#10;    &lt;Box style={{ height: 32, flexDirection: 'row', alignItems: 'center', justifyContent: 'space-between' }}&gt;&#10;      &lt;Text style={{ fontSize: 13, color: 'rgba(255,255,255,.38)', letterSpacing: '.14em', fontFamily: 'PingFang SC' }}&gt;VEX V5 编程教学仿真 · 工程日志&lt;/Text&gt;&#10;      &lt;Text style={{ fontSize: 13, color: 'rgba(255,255,255,.38)', fontFamily: 'Helvetica Neue', letterSpacing: '.06em' }}&gt;02 / 13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16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609600" y="476250"/>
            <a:ext cx="38100" cy="323850"/>
          </a:xfrm>
          <a:prstGeom prst="rect">
            <a:avLst/>
          </a:prstGeom>
          <a:solidFill>
            <a:srgbClr val="7ED6F5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00100" y="352425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项目概览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00100" y="762000"/>
            <a:ext cx="129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OVERVIEW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1266825"/>
            <a:ext cx="4029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7ED6F5"/>
                </a:solidFill>
                <a:latin typeface="PingFang SC"/>
                <a:ea typeface="PingFang SC"/>
              </a:rPr>
              <a:t>定位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09600" y="1619250"/>
            <a:ext cx="4029075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FFFFFF">
                    <a:alpha val="82000"/>
                  </a:srgbClr>
                </a:solidFill>
                <a:latin typeface="PingFang SC"/>
                <a:ea typeface="PingFang SC"/>
              </a:rPr>
              <a:t>面向机器人教学的可编程</a:t>
            </a:r>
            <a:r>
              <a:rPr lang="en-US" sz="1425">
                <a:solidFill>
                  <a:srgbClr val="FFFFFF">
                    <a:alpha val="82000"/>
                  </a:srgbClr>
                </a:solidFill>
                <a:latin typeface="PingFang SC"/>
                <a:ea typeface="PingFang SC"/>
              </a:rPr>
              <a:t> VEX V5 </a:t>
            </a:r>
            <a:r>
              <a:rPr lang="zh-CN" sz="1425">
                <a:solidFill>
                  <a:srgbClr val="FFFFFF">
                    <a:alpha val="82000"/>
                  </a:srgbClr>
                </a:solidFill>
                <a:latin typeface="PingFang SC"/>
                <a:ea typeface="PingFang SC"/>
              </a:rPr>
              <a:t>仿真器：左侧编写</a:t>
            </a:r>
            <a:r>
              <a:rPr lang="en-US" sz="1425">
                <a:solidFill>
                  <a:srgbClr val="FFFFFF">
                    <a:alpha val="82000"/>
                  </a:srgbClr>
                </a:solidFill>
                <a:latin typeface="PingFang SC"/>
                <a:ea typeface="PingFang SC"/>
              </a:rPr>
              <a:t> C++ </a:t>
            </a:r>
            <a:r>
              <a:rPr lang="zh-CN" sz="1425">
                <a:solidFill>
                  <a:srgbClr val="FFFFFF">
                    <a:alpha val="82000"/>
                  </a:srgbClr>
                </a:solidFill>
                <a:latin typeface="PingFang SC"/>
                <a:ea typeface="PingFang SC"/>
              </a:rPr>
              <a:t>风格代码，右侧</a:t>
            </a:r>
            <a:r>
              <a:rPr lang="en-US" sz="1425">
                <a:solidFill>
                  <a:srgbClr val="FFFFFF">
                    <a:alpha val="82000"/>
                  </a:srgbClr>
                </a:solidFill>
                <a:latin typeface="PingFang SC"/>
                <a:ea typeface="PingFang SC"/>
              </a:rPr>
              <a:t> 3D </a:t>
            </a:r>
            <a:r>
              <a:rPr lang="zh-CN" sz="1425">
                <a:solidFill>
                  <a:srgbClr val="FFFFFF">
                    <a:alpha val="82000"/>
                  </a:srgbClr>
                </a:solidFill>
                <a:latin typeface="PingFang SC"/>
                <a:ea typeface="PingFang SC"/>
              </a:rPr>
              <a:t>场地实时驱动</a:t>
            </a:r>
            <a:r>
              <a:rPr lang="en-US" sz="1425">
                <a:solidFill>
                  <a:srgbClr val="FFFFFF">
                    <a:alpha val="82000"/>
                  </a:srgbClr>
                </a:solidFill>
                <a:latin typeface="PingFang SC"/>
                <a:ea typeface="PingFang SC"/>
              </a:rPr>
              <a:t> Clawbot </a:t>
            </a:r>
            <a:r>
              <a:rPr lang="zh-CN" sz="1425">
                <a:solidFill>
                  <a:srgbClr val="FFFFFF">
                    <a:alpha val="82000"/>
                  </a:srgbClr>
                </a:solidFill>
                <a:latin typeface="PingFang SC"/>
                <a:ea typeface="PingFang SC"/>
              </a:rPr>
              <a:t>执行。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09600" y="2943225"/>
            <a:ext cx="40290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3162300"/>
            <a:ext cx="4029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7ED6F5"/>
                </a:solidFill>
                <a:latin typeface="PingFang SC"/>
                <a:ea typeface="PingFang SC"/>
              </a:rPr>
              <a:t>形态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3514725"/>
            <a:ext cx="4029075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纯前端静态</a:t>
            </a:r>
            <a:r>
              <a:rPr lang="en-US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 Web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：</a:t>
            </a:r>
            <a:r>
              <a:rPr lang="en-US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HTML + Three.js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，无后端。</a:t>
            </a:r>
            <a:r>
              <a:rPr lang="en-US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CloudStudio 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托管，浏览器即开即用；本地可直接</a:t>
            </a:r>
            <a:r>
              <a:rPr lang="en-US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 file:// 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打开。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09600" y="4781550"/>
            <a:ext cx="40290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5000625"/>
            <a:ext cx="4029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7ED6F5"/>
                </a:solidFill>
                <a:latin typeface="PingFang SC"/>
                <a:ea typeface="PingFang SC"/>
              </a:rPr>
              <a:t>能力面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5353050"/>
            <a:ext cx="4029075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静态检查</a:t>
            </a:r>
            <a:r>
              <a:rPr lang="en-US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 · AI 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生成</a:t>
            </a:r>
            <a:r>
              <a:rPr lang="en-US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超声波仿真</a:t>
            </a:r>
            <a:r>
              <a:rPr lang="en-US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 · if/while 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控制流</a:t>
            </a:r>
            <a:r>
              <a:rPr lang="en-US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训练模式与</a:t>
            </a:r>
            <a:r>
              <a:rPr lang="en-US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 merit 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积分。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5019675" y="990600"/>
            <a:ext cx="6562725" cy="5372100"/>
          </a:xfrm>
          <a:prstGeom prst="roundRect">
            <a:avLst>
              <a:gd name="adj" fmla="val 1064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343525" y="1457325"/>
            <a:ext cx="5915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ED6F5">
                    <a:alpha val="85000"/>
                  </a:srgbClr>
                </a:solidFill>
                <a:latin typeface="Helvetica Neue"/>
                <a:ea typeface="Helvetica Neue"/>
              </a:rPr>
              <a:t>CORE PIPELINE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343525" y="2000250"/>
            <a:ext cx="200025" cy="552450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D94D"/>
                </a:solidFill>
                <a:latin typeface="Menlo"/>
                <a:ea typeface="Menlo"/>
              </a:rPr>
              <a:t>0</a:t>
            </a:r>
            <a:r>
              <a:rPr lang="en-US" sz="1275">
                <a:solidFill>
                  <a:srgbClr val="FFD94D"/>
                </a:solidFill>
                <a:latin typeface="Menlo"/>
                <a:ea typeface="Menlo"/>
              </a:rPr>
              <a:t>1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5715000" y="2000250"/>
            <a:ext cx="5543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enlo"/>
                <a:ea typeface="Menlo"/>
              </a:rPr>
              <a:t>linter.parseBlock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715000" y="2257425"/>
            <a:ext cx="55435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递归下降解析</a:t>
            </a:r>
            <a:r>
              <a:rPr lang="en-US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→ AST → extractCommands</a:t>
            </a:r>
            <a:r>
              <a:rPr lang="zh-CN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（含</a:t>
            </a:r>
            <a:r>
              <a:rPr lang="en-US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if/else/while</a:t>
            </a:r>
            <a:r>
              <a:rPr lang="zh-CN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5343525" y="2695575"/>
            <a:ext cx="5915025" cy="857250"/>
          </a:xfrm>
          <a:custGeom>
            <a:pathLst>
              <a:path w="621" h="90">
                <a:moveTo>
                  <a:pt x="0" y="0"/>
                </a:moveTo>
                <a:lnTo>
                  <a:pt x="621" y="0"/>
                </a:lnTo>
                <a:lnTo>
                  <a:pt x="621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343525" y="2847975"/>
            <a:ext cx="200025" cy="552450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D94D"/>
                </a:solidFill>
                <a:latin typeface="Menlo"/>
                <a:ea typeface="Menlo"/>
              </a:rPr>
              <a:t>0</a:t>
            </a:r>
            <a:r>
              <a:rPr lang="en-US" sz="1275">
                <a:solidFill>
                  <a:srgbClr val="FFD94D"/>
                </a:solidFill>
                <a:latin typeface="Menlo"/>
                <a:ea typeface="Menlo"/>
              </a:rPr>
              <a:t>2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715000" y="2847975"/>
            <a:ext cx="5543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enlo"/>
                <a:ea typeface="Menlo"/>
              </a:rPr>
              <a:t>sim.execStack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715000" y="3105150"/>
            <a:ext cx="55435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顺序帧</a:t>
            </a:r>
            <a:r>
              <a:rPr lang="en-US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+ </a:t>
            </a:r>
            <a:r>
              <a:rPr lang="zh-CN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循环帧分帧推进</a:t>
            </a:r>
            <a:r>
              <a:rPr lang="en-US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→ SceneAPI.robot.* </a:t>
            </a:r>
            <a:r>
              <a:rPr lang="zh-CN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驱动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5343525" y="3543300"/>
            <a:ext cx="5915025" cy="857250"/>
          </a:xfrm>
          <a:custGeom>
            <a:pathLst>
              <a:path w="621" h="90">
                <a:moveTo>
                  <a:pt x="0" y="0"/>
                </a:moveTo>
                <a:lnTo>
                  <a:pt x="621" y="0"/>
                </a:lnTo>
                <a:lnTo>
                  <a:pt x="621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343525" y="3695700"/>
            <a:ext cx="200025" cy="552450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D94D"/>
                </a:solidFill>
                <a:latin typeface="Menlo"/>
                <a:ea typeface="Menlo"/>
              </a:rPr>
              <a:t>0</a:t>
            </a:r>
            <a:r>
              <a:rPr lang="en-US" sz="1275">
                <a:solidFill>
                  <a:srgbClr val="FFD94D"/>
                </a:solidFill>
                <a:latin typeface="Menlo"/>
                <a:ea typeface="Menlo"/>
              </a:rPr>
              <a:t>3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715000" y="3695700"/>
            <a:ext cx="5543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enlo"/>
                <a:ea typeface="Menlo"/>
              </a:rPr>
              <a:t>scene.render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715000" y="3952875"/>
            <a:ext cx="55435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按需渲染</a:t>
            </a:r>
            <a:r>
              <a:rPr lang="en-US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3D</a:t>
            </a:r>
            <a:r>
              <a:rPr lang="zh-CN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；帧回调：到达检测</a:t>
            </a:r>
            <a:r>
              <a:rPr lang="en-US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吸附推球</a:t>
            </a:r>
            <a:r>
              <a:rPr lang="en-US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超声波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5343525" y="4391025"/>
            <a:ext cx="5915025" cy="857250"/>
          </a:xfrm>
          <a:custGeom>
            <a:pathLst>
              <a:path w="621" h="90">
                <a:moveTo>
                  <a:pt x="0" y="0"/>
                </a:moveTo>
                <a:lnTo>
                  <a:pt x="621" y="0"/>
                </a:lnTo>
                <a:lnTo>
                  <a:pt x="621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343525" y="4543425"/>
            <a:ext cx="200025" cy="552450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D94D"/>
                </a:solidFill>
                <a:latin typeface="Menlo"/>
                <a:ea typeface="Menlo"/>
              </a:rPr>
              <a:t>0</a:t>
            </a:r>
            <a:r>
              <a:rPr lang="en-US" sz="1275">
                <a:solidFill>
                  <a:srgbClr val="FFD94D"/>
                </a:solidFill>
                <a:latin typeface="Menlo"/>
                <a:ea typeface="Menlo"/>
              </a:rPr>
              <a:t>4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715000" y="4543425"/>
            <a:ext cx="5543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enlo"/>
                <a:ea typeface="Menlo"/>
              </a:rPr>
              <a:t>app.console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715000" y="4800600"/>
            <a:ext cx="55435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彩色状态日志滚入右下控制台，实时反馈运行期信息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5343525" y="5429250"/>
            <a:ext cx="5915025" cy="485775"/>
          </a:xfrm>
          <a:custGeom>
            <a:pathLst>
              <a:path w="621" h="51">
                <a:moveTo>
                  <a:pt x="0" y="0"/>
                </a:moveTo>
                <a:lnTo>
                  <a:pt x="621" y="0"/>
                </a:lnTo>
                <a:lnTo>
                  <a:pt x="621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5343525" y="5724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7ED6F5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534025" y="5610225"/>
            <a:ext cx="57245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判断：一个纯前端产物，覆盖了从语法解析、分帧物理到实时反馈的完整可编程闭环。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VEX V5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编程教学仿真</a:t>
            </a: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工程日志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1918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Helvetica Neue"/>
                <a:ea typeface="Helvetica Neue"/>
              </a:rPr>
              <a:t>02 / 13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70" name="" descr="&lt;Slide style={{ width: '1280px', height: '720px', padding: 0, background: '#0A0E16' }}&gt;&#10;  &lt;Box style={{ height: '100%', padding: '30px 64px 20px', justifyContent: 'space-between' }}&gt;&#10;    {/* A 标题块 */}&#10;    &lt;Box style={{ flexDirection: 'row', alignItems: 'center', gap: 16, height: 74 }}&gt;&#10;      &lt;Box style={{ width: 4, height: 34, background: '#7ED6F5' }} /&gt;&#10;      &lt;Box&gt;&#10;        &lt;Text style={{ fontSize: 34, fontWeight: 'bold', color: '#FFFFFF', letterSpacing: '.02em', fontFamily: 'PingFang SC' }}&gt;里程碑总览&lt;/Text&gt;&#10;        &lt;Text style={{ fontSize: 14, color: 'rgba(255,255,255,.45)', letterSpacing: '.2em', fontFamily: 'Helvetica Neue', marginTop: 2 }}&gt;MILESTONES · 08.18 — 09.06&lt;/Text&gt;&#10;      &lt;/Box&gt;&#10;    &lt;/Box&gt;&#10;    {/* B：时间轴 */}&#10;    &lt;Box style={{ flex: 1, minHeight: 0, flexDirection: 'column', justifyContent: 'center' }}&gt;&#10;      &lt;Box style={{ width: '100%', position: 'relative', paddingTop: 8 }}&gt;&#10;        &lt;Box style={{ position: 'absolute', top: 40, left: 12, right: 12, height: 2, background: 'linear-gradient(90deg, rgba(255,255,255,0) 0%, rgba(126,214,245,.4) 12%, rgba(126,214,245,.4) 88%, rgba(255,255,255,0) 100%)' }} /&gt;&#10;        &lt;Box style={{ flexDirection: 'row', justifyContent: 'space-between' }}&gt;&#10;          {[&#10;            ['08.18', '立项骨架', '编辑器 × 3D 首版', false],&#10;            ['08.20', '性能攻坚', '渲染按需化', false],&#10;            ['08.21', '云端上线', '143→17MB', false],&#10;            ['08.25', 'Safari 兼容', 'Blob 绕过无 Range', true],&#10;            ['09.02', '超声波', '实时 HUD 测距', false],&#10;            ['09.03', '控制流', 'if / while AST', false],&#10;            ['09.04', '训练模式', '随机旗帜 + merit', false],&#10;            ['09.06', '教学收口', '精简至极简', false],&#10;          ].map((it, i) =&gt; (&#10;            &lt;Box key={i} style={{ width: 128, alignItems: 'center' }}&gt;&#10;              &lt;Text style={{ fontSize: 14, color: it[3] ? '#FFD94D' : 'rgba(126,214,245,.9)', fontFamily: 'Menlo, monospace', letterSpacing: '.04em' }}&gt;{it[0]}&lt;/Text&gt;&#10;              &lt;Box style={{ width: 13, height: 13, borderRadius: 7, marginTop: 13, background: it[3] ? '#FFD94D' : '#7ED6F5', boxShadow: it[3] ? '0 0 14px rgba(255,217,77,.8)' : '0 0 10px rgba(126,214,245,.7)' }} /&gt;&#10;              &lt;Text style={{ fontSize: 17, fontWeight: 'bold', color: '#FFFFFF', fontFamily: 'PingFang SC', marginTop: 18 }}&gt;{it[1]}&lt;/Text&gt;&#10;              &lt;Text style={{ fontSize: 12.5, color: 'rgba(255,255,255,.5)', lineHeight: 1.5, textAlign: 'center', fontFamily: 'PingFang SC', marginTop: 6 }}&gt;{it[2]}&lt;/Text&gt;&#10;            &lt;/Box&gt;&#10;          ))}&#10;        &lt;/Box&gt;&#10;      &lt;/Box&gt;&#10;      {/* 底部结论条 */}&#10;      &lt;Box style={{ flexDirection: 'row', alignItems: 'center', gap: 14, marginTop: 52, padding: '20px 24px', background: 'rgba(255,255,255,.04)', border: '1px solid rgba(255,255,255,.08)', borderRadius: 6 }}&gt;&#10;        &lt;Text style={{ fontSize: 40, fontWeight: 'bold', color: '#7ED6F5', fontFamily: 'Helvetica Neue' }}&gt;9&lt;/Text&gt;&#10;        &lt;Text style={{ flex: 1, fontSize: 17, color: 'rgba(255,255,255,.72)', lineHeight: 1.7, fontFamily: 'PingFang SC' }}&gt;&#10;          &lt;span style={{ fontWeight: 'bold', color: '#FFFFFF' }}&gt;九大版本节点、约三周完成。&amp;nbsp;&lt;/span&gt;&#10;          演进曲线从&quot;堆功能&quot;转向&quot;攻坚 + 收口&quot;：前期解决能做多少，中段解决稳不稳，后期解决好不好用。&#10;        &lt;/Text&gt;&#10;      &lt;/Box&gt;&#10;    &lt;/Box&gt;&#10;    {/* C 页脚 */}&#10;    &lt;Box style={{ height: 32, flexDirection: 'row', alignItems: 'center', justifyContent: 'space-between' }}&gt;&#10;      &lt;Text style={{ fontSize: 13, color: 'rgba(255,255,255,.38)', letterSpacing: '.14em', fontFamily: 'PingFang SC' }}&gt;VEX V5 编程教学仿真 · 工程日志&lt;/Text&gt;&#10;      &lt;Text style={{ fontSize: 13, color: 'rgba(255,255,255,.38)', fontFamily: 'Helvetica Neue', letterSpacing: '.06em' }}&gt;03 / 13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16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609600" y="476250"/>
            <a:ext cx="38100" cy="323850"/>
          </a:xfrm>
          <a:prstGeom prst="rect">
            <a:avLst/>
          </a:prstGeom>
          <a:solidFill>
            <a:srgbClr val="7ED6F5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00100" y="352425"/>
            <a:ext cx="1828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里程碑总览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00100" y="7620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MILESTONES · 08.18 — 09.06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09600" y="4076700"/>
            <a:ext cx="10972800" cy="838200"/>
          </a:xfrm>
          <a:prstGeom prst="roundRect">
            <a:avLst>
              <a:gd name="adj" fmla="val 6818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38200" y="4267200"/>
            <a:ext cx="219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7ED6F5"/>
                </a:solidFill>
                <a:latin typeface="Helvetica Neue"/>
                <a:ea typeface="Helvetica Neue"/>
              </a:rPr>
              <a:t>9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90625" y="4333875"/>
            <a:ext cx="1016317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九大版本节点、约三周完成。 </a:t>
            </a:r>
            <a:r>
              <a:rPr lang="zh-CN" sz="1275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演进曲线从</a:t>
            </a:r>
            <a:r>
              <a:rPr lang="en-US" sz="1275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275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堆功能</a:t>
            </a:r>
            <a:r>
              <a:rPr lang="en-US" sz="1275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275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转向</a:t>
            </a:r>
            <a:r>
              <a:rPr lang="en-US" sz="1275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275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攻坚</a:t>
            </a:r>
            <a:r>
              <a:rPr lang="en-US" sz="1275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 + </a:t>
            </a:r>
            <a:r>
              <a:rPr lang="zh-CN" sz="1275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收口</a:t>
            </a:r>
            <a:r>
              <a:rPr lang="en-US" sz="1275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275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：前期解决能做多少，中段解决稳不稳，后期解决好不好用。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VEX V5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编程教学仿真</a:t>
            </a: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工程日志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1918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Helvetica Neue"/>
                <a:ea typeface="Helvetica Neue"/>
              </a:rPr>
              <a:t>03 / 13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019175" y="25241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ED6F5">
                    <a:alpha val="90000"/>
                  </a:srgbClr>
                </a:solidFill>
                <a:latin typeface="Menlo"/>
                <a:ea typeface="Menlo"/>
              </a:rPr>
              <a:t>08.18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1162050" y="2809875"/>
            <a:ext cx="123825" cy="123825"/>
          </a:xfrm>
          <a:prstGeom prst="roundRect">
            <a:avLst>
              <a:gd name="adj" fmla="val 53846"/>
            </a:avLst>
          </a:prstGeom>
          <a:solidFill>
            <a:srgbClr val="7ED6F5"/>
          </a:solidFill>
          <a:ln/>
          <a:effectLst>
            <a:outerShdw blurRad="95250" dist="0" dir="0">
              <a:srgbClr val="7ED6F5">
                <a:alpha val="70000"/>
              </a:srgbClr>
            </a:outerShdw>
          </a:effectLst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95350" y="3105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立项骨架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52475" y="3362325"/>
            <a:ext cx="942975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编辑器</a:t>
            </a:r>
            <a:r>
              <a:rPr lang="en-US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 × 3D </a:t>
            </a: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首版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2409825" y="25241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ED6F5">
                    <a:alpha val="90000"/>
                  </a:srgbClr>
                </a:solidFill>
                <a:latin typeface="Menlo"/>
                <a:ea typeface="Menlo"/>
              </a:rPr>
              <a:t>08.20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2552700" y="2809875"/>
            <a:ext cx="123825" cy="123825"/>
          </a:xfrm>
          <a:prstGeom prst="roundRect">
            <a:avLst>
              <a:gd name="adj" fmla="val 53846"/>
            </a:avLst>
          </a:prstGeom>
          <a:solidFill>
            <a:srgbClr val="7ED6F5"/>
          </a:solidFill>
          <a:ln/>
          <a:effectLst>
            <a:outerShdw blurRad="95250" dist="0" dir="0">
              <a:srgbClr val="7ED6F5">
                <a:alpha val="70000"/>
              </a:srgbClr>
            </a:outerShdw>
          </a:effectLst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2286000" y="3105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性能攻坚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2314575" y="3362325"/>
            <a:ext cx="600075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渲染按需化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810000" y="25241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ED6F5">
                    <a:alpha val="90000"/>
                  </a:srgbClr>
                </a:solidFill>
                <a:latin typeface="Menlo"/>
                <a:ea typeface="Menlo"/>
              </a:rPr>
              <a:t>08.21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3952875" y="2809875"/>
            <a:ext cx="123825" cy="123825"/>
          </a:xfrm>
          <a:prstGeom prst="roundRect">
            <a:avLst>
              <a:gd name="adj" fmla="val 53846"/>
            </a:avLst>
          </a:prstGeom>
          <a:solidFill>
            <a:srgbClr val="7ED6F5"/>
          </a:solidFill>
          <a:ln/>
          <a:effectLst>
            <a:outerShdw blurRad="95250" dist="0" dir="0">
              <a:srgbClr val="7ED6F5">
                <a:alpha val="70000"/>
              </a:srgbClr>
            </a:outerShdw>
          </a:effectLst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686175" y="3105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云端上线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705225" y="3362325"/>
            <a:ext cx="6096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143→17MB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200650" y="25241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D94D"/>
                </a:solidFill>
                <a:latin typeface="Menlo"/>
                <a:ea typeface="Menlo"/>
              </a:rPr>
              <a:t>08.25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5343525" y="2809875"/>
            <a:ext cx="123825" cy="123825"/>
          </a:xfrm>
          <a:prstGeom prst="roundRect">
            <a:avLst>
              <a:gd name="adj" fmla="val 53846"/>
            </a:avLst>
          </a:prstGeom>
          <a:solidFill>
            <a:srgbClr val="FFD94D"/>
          </a:solidFill>
          <a:ln/>
          <a:effectLst>
            <a:outerShdw blurRad="133350" dist="0" dir="0">
              <a:srgbClr val="FFD94D">
                <a:alpha val="80000"/>
              </a:srgbClr>
            </a:outerShdw>
          </a:effectLst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981575" y="3105150"/>
            <a:ext cx="838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Safari </a:t>
            </a: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兼容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886325" y="3362325"/>
            <a:ext cx="1038225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Blob </a:t>
            </a: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绕过无</a:t>
            </a:r>
            <a:r>
              <a:rPr lang="en-US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 Range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591300" y="25241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ED6F5">
                    <a:alpha val="90000"/>
                  </a:srgbClr>
                </a:solidFill>
                <a:latin typeface="Menlo"/>
                <a:ea typeface="Menlo"/>
              </a:rPr>
              <a:t>09.02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734175" y="2809875"/>
            <a:ext cx="123825" cy="123825"/>
          </a:xfrm>
          <a:prstGeom prst="roundRect">
            <a:avLst>
              <a:gd name="adj" fmla="val 53846"/>
            </a:avLst>
          </a:prstGeom>
          <a:solidFill>
            <a:srgbClr val="7ED6F5"/>
          </a:solidFill>
          <a:ln/>
          <a:effectLst>
            <a:outerShdw blurRad="95250" dist="0" dir="0">
              <a:srgbClr val="7ED6F5">
                <a:alpha val="70000"/>
              </a:srgbClr>
            </a:outerShdw>
          </a:effectLst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553200" y="31051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超声波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381750" y="3362325"/>
            <a:ext cx="8191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实时</a:t>
            </a:r>
            <a:r>
              <a:rPr lang="en-US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 HUD </a:t>
            </a: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测距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981950" y="25241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ED6F5">
                    <a:alpha val="90000"/>
                  </a:srgbClr>
                </a:solidFill>
                <a:latin typeface="Menlo"/>
                <a:ea typeface="Menlo"/>
              </a:rPr>
              <a:t>09.03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8124825" y="2809875"/>
            <a:ext cx="123825" cy="123825"/>
          </a:xfrm>
          <a:prstGeom prst="roundRect">
            <a:avLst>
              <a:gd name="adj" fmla="val 53846"/>
            </a:avLst>
          </a:prstGeom>
          <a:solidFill>
            <a:srgbClr val="7ED6F5"/>
          </a:solidFill>
          <a:ln/>
          <a:effectLst>
            <a:outerShdw blurRad="95250" dist="0" dir="0">
              <a:srgbClr val="7ED6F5">
                <a:alpha val="70000"/>
              </a:srgbClr>
            </a:outerShdw>
          </a:effectLst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943850" y="3105150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控制流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800975" y="3362325"/>
            <a:ext cx="7620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if / while AST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382125" y="25241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ED6F5">
                    <a:alpha val="90000"/>
                  </a:srgbClr>
                </a:solidFill>
                <a:latin typeface="Menlo"/>
                <a:ea typeface="Menlo"/>
              </a:rPr>
              <a:t>09.04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9525000" y="2809875"/>
            <a:ext cx="123825" cy="123825"/>
          </a:xfrm>
          <a:prstGeom prst="roundRect">
            <a:avLst>
              <a:gd name="adj" fmla="val 53846"/>
            </a:avLst>
          </a:prstGeom>
          <a:solidFill>
            <a:srgbClr val="7ED6F5"/>
          </a:solidFill>
          <a:ln/>
          <a:effectLst>
            <a:outerShdw blurRad="95250" dist="0" dir="0">
              <a:srgbClr val="7ED6F5">
                <a:alpha val="70000"/>
              </a:srgbClr>
            </a:outerShdw>
          </a:effectLst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9258300" y="3105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训练模式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9124950" y="3362325"/>
            <a:ext cx="9144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随机旗帜</a:t>
            </a:r>
            <a:r>
              <a:rPr lang="en-US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 + merit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0772775" y="25241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ED6F5">
                    <a:alpha val="90000"/>
                  </a:srgbClr>
                </a:solidFill>
                <a:latin typeface="Menlo"/>
                <a:ea typeface="Menlo"/>
              </a:rPr>
              <a:t>09.06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10915650" y="2809875"/>
            <a:ext cx="123825" cy="123825"/>
          </a:xfrm>
          <a:prstGeom prst="roundRect">
            <a:avLst>
              <a:gd name="adj" fmla="val 53846"/>
            </a:avLst>
          </a:prstGeom>
          <a:solidFill>
            <a:srgbClr val="7ED6F5"/>
          </a:solidFill>
          <a:ln/>
          <a:effectLst>
            <a:outerShdw blurRad="95250" dist="0" dir="0">
              <a:srgbClr val="7ED6F5">
                <a:alpha val="70000"/>
              </a:srgbClr>
            </a:outerShdw>
          </a:effectLst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0648950" y="3105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教学收口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0677525" y="3362325"/>
            <a:ext cx="600075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精简至极简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23900" y="2828925"/>
            <a:ext cx="10744200" cy="1905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2000">
                <a:srgbClr val="7ED6F5">
                  <a:alpha val="40000"/>
                </a:srgbClr>
              </a:gs>
              <a:gs pos="88000">
                <a:srgbClr val="7ED6F5">
                  <a:alpha val="4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213" name="" descr="&lt;Slide style={{ width: '1280px', height: '720px', padding: 0, background: '#0A0E16' }}&gt;&#10;  &lt;Box style={{ height: '100%', padding: '30px 64px 20px', justifyContent: 'space-between' }}&gt;&#10;    &lt;Box style={{ flexDirection: 'row', alignItems: 'center', gap: 16, height: 74 }}&gt;&#10;      &lt;Box style={{ width: 4, height: 34, background: '#7ED6F5' }} /&gt;&#10;      &lt;Box&gt;&#10;        &lt;Text style={{ fontSize: 34, fontWeight: 'bold', color: '#FFFFFF', letterSpacing: '.02em', fontFamily: 'PingFang SC' }}&gt;起步：从编辑器到 AI 生成&lt;/Text&gt;&#10;        &lt;Text style={{ fontSize: 14, color: 'rgba(255,255,255,.45)', letterSpacing: '.2em', fontFamily: 'Helvetica Neue', marginTop: 2 }}&gt;v1 — v4 · 08.18&lt;/Text&gt;&#10;      &lt;/Box&gt;&#10;    &lt;/Box&gt;&#10;    {/* 左 60% */}&#10;    &lt;Box style={{ flex: 1, width: '60%', flexDirection: 'column', justifyContent: 'center', gap: 4, minHeight: 0 }}&gt;&#10;      {[&#10;        ['v1', '编辑器 × 静态检查 × 3D 首版', 'textarea 叠高亮层、行号槽；linter 纯函数检查缺分号 / 括号配对 / 未定义标识符 / 缺 main；命令只取 main 体、函数递归展开；单位换算 1 单位 = 1 ft。'],&#10;        ['v2', 'AI 代码生成栏', '中 / 英文一句话需求 → VEX C++（动作词 + 数量单位，含中文数字）；生成代码过 linter 零错误、命令可提取执行，支持一键测试与复制。'],&#10;        ['v3', '面板覆盖式改造', 'AI 栏由挤压布局改为覆盖式浮层，展开不改变 3D 场地尺寸；一键测试自动收起面板，回看机器人运行。'],&#10;        ['v4', '点击穿透修复', 'setPointerCapture 会吞掉面板内按钮的 click —— pointerdown 命中面板元素即放行，交互恢复。'],&#10;      ].map((it, i) =&gt; (&#10;        &lt;Box key={i} style={{ flexDirection: 'row', gap: 22, padding: '18px 0', borderTop: i === 0 ? 'none' : '1px solid rgba(255,255,255,.06)' }}&gt;&#10;          &lt;Text style={{ width: 66, fontSize: 30, fontWeight: 'bold', color: i === 0 ? '#7ED6F5' : 'rgba(126,214,245,.55)', fontFamily: 'Helvetica Neue' }}&gt;{it[0]}&lt;/Text&gt;&#10;          &lt;Box style={{ flex: 1 }}&gt;&#10;            &lt;Text style={{ fontSize: 20, fontWeight: 'bold', color: '#FFFFFF', fontFamily: 'PingFang SC' }}&gt;{it[1]}&lt;/Text&gt;&#10;            &lt;Text style={{ fontSize: 15.5, color: 'rgba(255,255,255,.62)', lineHeight: 1.65, fontFamily: 'PingFang SC', marginTop: 5 }}&gt;{it[2]}&lt;/Text&gt;&#10;          &lt;/Box&gt;&#10;        &lt;/Box&gt;&#10;      ))}&#10;    &lt;/Box&gt;&#10;    {/* 右 40%：模块清单 */}&#10;    &lt;Box style={{ position: 'absolute', right: 64, top: 140, bottom: 74, width: '32%', background: 'rgba(255,255,255,.045)', border: '1px solid rgba(255,255,255,.09)', borderRadius: 6, padding: '26px 26px', justifyContent: 'center', gap: 12 }}&gt;&#10;      &lt;Text style={{ fontSize: 15, color: 'rgba(126,214,245,.85)', letterSpacing: '.28em', fontFamily: 'Helvetica Neue', marginBottom: 8 }}&gt;MODULES&lt;/Text&gt;&#10;      {[&#10;        ['linter.js', '静态检测 · 解析'],&#10;        ['sim.js', '分帧执行引擎'],&#10;        ['scene.js', '3D 场景 · 物理'],&#10;        ['app.js', '编辑器接线 · UI'],&#10;        ['ai.js', '自然语言 → 代码'],&#10;        ['three.min.js', 'three r149 本地'],&#10;      ].map((it, i) =&gt; (&#10;        &lt;Box key={i} style={{ flexDirection: 'row', alignItems: 'center', gap: 14 }}&gt;&#10;          &lt;Box style={{ width: 26, height: 26, borderRadius: 4, background: 'rgba(126,214,245,.12)', alignItems: 'center', justifyContent: 'center' }}&gt;&#10;            &lt;Text style={{ fontSize: 12, color: '#7ED6F5', fontWeight: 'bold', fontFamily: 'Menlo, monospace' }}&gt;{String(i + 1).padStart(2, '0')}&lt;/Text&gt;&#10;          &lt;/Box&gt;&#10;          &lt;Box style={{ flex: 1 }}&gt;&#10;            &lt;Text style={{ fontSize: 17, fontWeight: 'bold', color: '#FFFFFF', fontFamily: 'Menlo, monospace' }}&gt;{it[0]}&lt;/Text&gt;&#10;            &lt;Text style={{ fontSize: 12.5, color: 'rgba(255,255,255,.5)', fontFamily: 'PingFang SC', marginTop: 1 }}&gt;{it[1]}&lt;/Text&gt;&#10;          &lt;/Box&gt;&#10;        &lt;/Box&gt;&#10;      ))}&#10;      &lt;Box style={{ marginTop: 8, paddingTop: 14, borderTop: '1px solid rgba(255,255,255,.08)' }}&gt;&#10;        &lt;Text style={{ fontSize: 14, color: 'rgba(255,255,255,.55)', lineHeight: 1.6, fontFamily: 'PingFang SC' }}&gt;模块间只依赖稳定接口（SceneAPI / SimAPI），是后续高频迭代不改裂的前提。&lt;/Text&gt;&#10;      &lt;/Box&gt;&#10;    &lt;/Box&gt;&#10;    {/* C 页脚 */}&#10;    &lt;Box style={{ height: 32, flexDirection: 'row', alignItems: 'center', justifyContent: 'space-between' }}&gt;&#10;      &lt;Text style={{ fontSize: 13, color: 'rgba(255,255,255,.38)', letterSpacing: '.14em', fontFamily: 'PingFang SC' }}&gt;VEX V5 编程教学仿真 · 工程日志&lt;/Text&gt;&#10;      &lt;Text style={{ fontSize: 13, color: 'rgba(255,255,255,.38)', fontFamily: 'Helvetica Neue', letterSpacing: '.06em' }}&gt;04 / 13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16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609600" y="476250"/>
            <a:ext cx="38100" cy="323850"/>
          </a:xfrm>
          <a:prstGeom prst="rect">
            <a:avLst/>
          </a:prstGeom>
          <a:solidFill>
            <a:srgbClr val="7ED6F5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00100" y="352425"/>
            <a:ext cx="3762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起步：从编辑器到</a:t>
            </a:r>
            <a:r>
              <a:rPr lang="en-US" sz="2550" b="1">
                <a:solidFill>
                  <a:srgbClr val="FFFFFF"/>
                </a:solidFill>
                <a:latin typeface="PingFang SC"/>
                <a:ea typeface="PingFang SC"/>
              </a:rPr>
              <a:t> AI </a:t>
            </a: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生成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00100" y="762000"/>
            <a:ext cx="3762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v1 — v4 · 08.18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628650" cy="866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7ED6F5"/>
                </a:solidFill>
                <a:latin typeface="Helvetica Neue"/>
                <a:ea typeface="Helvetica Neue"/>
              </a:rPr>
              <a:t>v1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447800" y="1362075"/>
            <a:ext cx="5743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编辑器</a:t>
            </a: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 × </a:t>
            </a: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静态检查</a:t>
            </a: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 × 3D </a:t>
            </a: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首版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447800" y="1638300"/>
            <a:ext cx="57435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textarea 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叠高亮层、行号槽；</a:t>
            </a: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linter 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纯函数检查缺分号</a:t>
            </a: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括号配对</a:t>
            </a: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未定义标识符</a:t>
            </a: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缺</a:t>
            </a: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main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；命令只取</a:t>
            </a: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main 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体、函数递归展开；单位换算</a:t>
            </a: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1 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单位</a:t>
            </a: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= 1 ft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2438400"/>
            <a:ext cx="6581775" cy="1228725"/>
          </a:xfrm>
          <a:custGeom>
            <a:pathLst>
              <a:path w="691" h="129">
                <a:moveTo>
                  <a:pt x="0" y="0"/>
                </a:moveTo>
                <a:lnTo>
                  <a:pt x="691" y="0"/>
                </a:lnTo>
                <a:lnTo>
                  <a:pt x="691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2619375"/>
            <a:ext cx="628650" cy="866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7ED6F5">
                    <a:alpha val="55000"/>
                  </a:srgbClr>
                </a:solidFill>
                <a:latin typeface="Helvetica Neue"/>
                <a:ea typeface="Helvetica Neue"/>
              </a:rPr>
              <a:t>v2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447800" y="2619375"/>
            <a:ext cx="5743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PingFang SC"/>
                <a:ea typeface="PingFang SC"/>
              </a:rPr>
              <a:t>AI </a:t>
            </a: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代码生成栏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447800" y="2895600"/>
            <a:ext cx="57435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中</a:t>
            </a: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英文一句话需求</a:t>
            </a: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→ VEX C++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（动作词</a:t>
            </a: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+ 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数量单位，含中文数字）；生成代码过</a:t>
            </a: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linter 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零错误、命令可提取执行，支持一键测试与复制。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09600" y="3695700"/>
            <a:ext cx="6581775" cy="1228725"/>
          </a:xfrm>
          <a:custGeom>
            <a:pathLst>
              <a:path w="691" h="129">
                <a:moveTo>
                  <a:pt x="0" y="0"/>
                </a:moveTo>
                <a:lnTo>
                  <a:pt x="691" y="0"/>
                </a:lnTo>
                <a:lnTo>
                  <a:pt x="691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09600" y="3876675"/>
            <a:ext cx="628650" cy="866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7ED6F5">
                    <a:alpha val="55000"/>
                  </a:srgbClr>
                </a:solidFill>
                <a:latin typeface="Helvetica Neue"/>
                <a:ea typeface="Helvetica Neue"/>
              </a:rPr>
              <a:t>v3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447800" y="3876675"/>
            <a:ext cx="5743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面板覆盖式改造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447800" y="4152900"/>
            <a:ext cx="57435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AI 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栏由挤压布局改为覆盖式浮层，展开不改变</a:t>
            </a: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3D 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场地尺寸；一键测试自动收起面板，回看机器人运行。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" y="4953000"/>
            <a:ext cx="6581775" cy="1228725"/>
          </a:xfrm>
          <a:custGeom>
            <a:pathLst>
              <a:path w="691" h="129">
                <a:moveTo>
                  <a:pt x="0" y="0"/>
                </a:moveTo>
                <a:lnTo>
                  <a:pt x="691" y="0"/>
                </a:lnTo>
                <a:lnTo>
                  <a:pt x="691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09600" y="5133975"/>
            <a:ext cx="628650" cy="866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7ED6F5">
                    <a:alpha val="55000"/>
                  </a:srgbClr>
                </a:solidFill>
                <a:latin typeface="Helvetica Neue"/>
                <a:ea typeface="Helvetica Neue"/>
              </a:rPr>
              <a:t>v4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447800" y="5133975"/>
            <a:ext cx="5743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点击穿透修复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447800" y="5410200"/>
            <a:ext cx="57435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setPointerCapture 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会吞掉面板内按钮的</a:t>
            </a:r>
            <a:r>
              <a:rPr lang="en-US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click —— pointerdown </a:t>
            </a:r>
            <a:r>
              <a:rPr lang="zh-CN" sz="116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命中面板元素即放行，交互恢复。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VEX V5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编程教学仿真</a:t>
            </a: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工程日志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11918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Helvetica Neue"/>
                <a:ea typeface="Helvetica Neue"/>
              </a:rPr>
              <a:t>04 / 13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7677150" y="1333500"/>
            <a:ext cx="3905250" cy="4819650"/>
          </a:xfrm>
          <a:prstGeom prst="roundRect">
            <a:avLst>
              <a:gd name="adj" fmla="val 1463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924800" y="18002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ED6F5">
                    <a:alpha val="85000"/>
                  </a:srgbClr>
                </a:solidFill>
                <a:latin typeface="Helvetica Neue"/>
                <a:ea typeface="Helvetica Neue"/>
              </a:rPr>
              <a:t>MODULES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7924800" y="2219325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7ED6F5">
              <a:alpha val="12000"/>
            </a:srgbClr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981950" y="22764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7ED6F5"/>
                </a:solidFill>
                <a:latin typeface="Menlo"/>
                <a:ea typeface="Menlo"/>
              </a:rPr>
              <a:t>01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305800" y="2162175"/>
            <a:ext cx="3028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enlo"/>
                <a:ea typeface="Menlo"/>
              </a:rPr>
              <a:t>linter.js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305800" y="2371725"/>
            <a:ext cx="3028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静态检测</a:t>
            </a:r>
            <a:r>
              <a:rPr lang="en-US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解析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7924800" y="2686050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7ED6F5">
              <a:alpha val="12000"/>
            </a:srgbClr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981950" y="27432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7ED6F5"/>
                </a:solidFill>
                <a:latin typeface="Menlo"/>
                <a:ea typeface="Menlo"/>
              </a:rPr>
              <a:t>02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305800" y="2628900"/>
            <a:ext cx="3028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enlo"/>
                <a:ea typeface="Menlo"/>
              </a:rPr>
              <a:t>sim.js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305800" y="2838450"/>
            <a:ext cx="3028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分帧执行引擎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7924800" y="3152775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7ED6F5">
              <a:alpha val="12000"/>
            </a:srgbClr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981950" y="32099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7ED6F5"/>
                </a:solidFill>
                <a:latin typeface="Menlo"/>
                <a:ea typeface="Menlo"/>
              </a:rPr>
              <a:t>03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305800" y="3095625"/>
            <a:ext cx="3028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enlo"/>
                <a:ea typeface="Menlo"/>
              </a:rPr>
              <a:t>scene.js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305800" y="3305175"/>
            <a:ext cx="3028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3D </a:t>
            </a: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场景</a:t>
            </a:r>
            <a:r>
              <a:rPr lang="en-US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物理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7924800" y="3619500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7ED6F5">
              <a:alpha val="12000"/>
            </a:srgbClr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981950" y="367665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7ED6F5"/>
                </a:solidFill>
                <a:latin typeface="Menlo"/>
                <a:ea typeface="Menlo"/>
              </a:rPr>
              <a:t>04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305800" y="3562350"/>
            <a:ext cx="3028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enlo"/>
                <a:ea typeface="Menlo"/>
              </a:rPr>
              <a:t>app.js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305800" y="3771900"/>
            <a:ext cx="3028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编辑器接线</a:t>
            </a:r>
            <a:r>
              <a:rPr lang="en-US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 · UI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7924800" y="4086225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7ED6F5">
              <a:alpha val="12000"/>
            </a:srgbClr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981950" y="41433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7ED6F5"/>
                </a:solidFill>
                <a:latin typeface="Menlo"/>
                <a:ea typeface="Menlo"/>
              </a:rPr>
              <a:t>05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305800" y="4029075"/>
            <a:ext cx="3028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enlo"/>
                <a:ea typeface="Menlo"/>
              </a:rPr>
              <a:t>ai.js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305800" y="4238625"/>
            <a:ext cx="3028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自然语言</a:t>
            </a:r>
            <a:r>
              <a:rPr lang="en-US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 → </a:t>
            </a: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代码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7924800" y="4552950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7ED6F5">
              <a:alpha val="12000"/>
            </a:srgbClr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981950" y="46101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7ED6F5"/>
                </a:solidFill>
                <a:latin typeface="Menlo"/>
                <a:ea typeface="Menlo"/>
              </a:rPr>
              <a:t>06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305800" y="4495800"/>
            <a:ext cx="3028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enlo"/>
                <a:ea typeface="Menlo"/>
              </a:rPr>
              <a:t>three.min.js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305800" y="4705350"/>
            <a:ext cx="3028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three r149 </a:t>
            </a:r>
            <a:r>
              <a:rPr lang="zh-CN" sz="938">
                <a:solidFill>
                  <a:srgbClr val="FFFFFF">
                    <a:alpha val="50000"/>
                  </a:srgbClr>
                </a:solidFill>
                <a:latin typeface="PingFang SC"/>
                <a:ea typeface="PingFang SC"/>
              </a:rPr>
              <a:t>本地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7924800" y="5038725"/>
            <a:ext cx="3409950" cy="666750"/>
          </a:xfrm>
          <a:custGeom>
            <a:pathLst>
              <a:path w="358" h="70">
                <a:moveTo>
                  <a:pt x="0" y="0"/>
                </a:moveTo>
                <a:lnTo>
                  <a:pt x="358" y="0"/>
                </a:lnTo>
                <a:lnTo>
                  <a:pt x="35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924800" y="5181600"/>
            <a:ext cx="3409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模块间只依赖稳定接口（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SceneAPI / SimAPI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），是后续高频迭代不改裂的前提。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63" name="" descr="&lt;Slide style={{ width: '1280px', height: '720px', padding: 0, background: '#0A0E16' }}&gt;&#10;  &lt;Box style={{ position: 'absolute', top: -200, right: -120, width: 560, height: 560, borderRadius: 280, background: 'radial-gradient(circle, rgba(255,217,77,0.10) 0%, rgba(255,217,77,0) 62%)' }} /&gt;&#10;  &lt;Box style={{ height: '100%', padding: '30px 64px 20px', justifyContent: 'space-between', position: 'relative' }}&gt;&#10;    &lt;Box style={{ flexDirection: 'row', alignItems: 'center', gap: 16, height: 74 }}&gt;&#10;      &lt;Box style={{ width: 4, height: 34, background: '#FFD94D' }} /&gt;&#10;      &lt;Box&gt;&#10;        &lt;Text style={{ fontSize: 34, fontWeight: 'bold', color: '#FFFFFF', letterSpacing: '.02em', fontFamily: 'PingFang SC' }}&gt;性能攻坚：让打字恢复即时&lt;/Text&gt;&#10;        &lt;Text style={{ fontSize: 14, color: 'rgba(255,255,255,.45)', letterSpacing: '.2em', fontFamily: 'Helvetica Neue', marginTop: 2 }}&gt;v8 系列 · 三类问题 · 三个根因&lt;/Text&gt;&#10;      &lt;/Box&gt;&#10;    &lt;/Box&gt;&#10;    {/* B：左大数字主叙事 + 右两行 */}&#10;    &lt;Box style={{ flex: 1, flexDirection: 'row', gap: 36, minHeight: 0, alignItems: 'center' }}&gt;&#10;      &lt;Box style={{ flex: 1.1, flexDirection: 'column', justifyContent: 'center' }}&gt;&#10;        &lt;Text style={{ fontSize: 108, fontWeight: 'bold', lineHeight: 1, color: '#7ED6F5', fontFamily: 'Helvetica Neue', letterSpacing: '-.02em' }}&gt;&#10;          60&lt;span style={{ fontSize: 46, color: 'rgba(255,255,255,.4)' }}&gt;fps →&lt;/span&gt;&#10;          &lt;span style={{ color: '#FFD94D' }}&gt; 0&lt;/span&gt;&#10;        &lt;/Text&gt;&#10;        &lt;Text style={{ fontSize: 19, fontWeight: 'bold', color: '#FFFFFF', fontFamily: 'PingFang SC', marginTop: 16 }}&gt;3D 渲染：无条件 60fps → 按需渲染&lt;/Text&gt;&#10;        &lt;Text style={{ fontSize: 16, color: 'rgba(255,255,255,.66)', lineHeight: 1.75, fontFamily: 'PingFang SC', marginTop: 10 }}&gt;&#10;          场景循环曾每帧无条件 renderer.render，Retina + 大阴影贴图持续抢占 GPU，与 textarea 抢资源。&lt;br /&gt;&#10;          &lt;span style={{ color: '#7ED6F5' }}&gt;改为 render-on-demand：空闲零 GPU，仅相机移动与仿真运行时渲染。&lt;/span&gt;&#10;        &lt;/Text&gt;&#10;        &lt;Box style={{ marginTop: 26, padding: '14px 18px', background: 'rgba(255,255,255,.05)', borderLeft: '3px solid #7ED6F5' }}&gt;&#10;          &lt;Text style={{ fontSize: 15, color: 'rgba(255,255,255,.75)', lineHeight: 1.6, fontFamily: 'PingFang SC' }}&gt;判断：编辑器类产品里，流畅度是一等公民——一个常驻的重渲染循环足以毁掉整体手感。&lt;/Text&gt;&#10;        &lt;/Box&gt;&#10;      &lt;/Box&gt;&#10;      &lt;Box style={{ flex: 1, flexDirection: 'column', gap: 22 }}&gt;&#10;        &lt;Box style={{ flex: 1, background: 'rgba(255,255,255,.045)', border: '1px solid rgba(255,255,255,.09)', borderRadius: 6, padding: '26px 28px', justifyContent: 'center' }}&gt;&#10;          &lt;Text style={{ fontSize: 40, fontWeight: 'bold', color: '#FFD94D', fontFamily: 'Helvetica Neue' }}&gt;350ms → 即时&lt;/Text&gt;&#10;          &lt;Text style={{ fontSize: 18, fontWeight: 'bold', color: '#FFFFFF', fontFamily: 'PingFang SC', marginTop: 8 }}&gt;防抖阻塞了文字显示&lt;/Text&gt;&#10;          &lt;Text style={{ fontSize: 15, color: 'rgba(255,255,255,.62)', lineHeight: 1.65, fontFamily: 'PingFang SC', marginTop: 8 }}&gt;高亮本身仅 0.4ms、lint 0.5ms，瓶颈是&quot;按键后 350ms 才渲染&quot;的旧逻辑——改为输入立即高亮，防抖只留给错误检测，并给行号加签名缓存。&lt;/Text&gt;&#10;        &lt;/Box&gt;&#10;        &lt;Box style={{ flex: 1, background: 'rgba(255,255,255,.045)', border: '1px solid rgba(255,255,255,.09)', borderRadius: 6, padding: '26px 28px', justifyContent: 'center' }}&gt;&#10;          &lt;Text style={{ fontSize: 40, fontWeight: 'bold', color: '#7ED6F5', fontFamily: 'Helvetica Neue' }}&gt;inset:0 → auto&lt;/Text&gt;&#10;          &lt;Text style={{ fontSize: 18, fontWeight: 'bold', color: '#FFFFFF', fontFamily: 'PingFang SC', marginTop: 8 }}&gt;滚动后代码&quot;隐形&quot;&lt;/Text&gt;&#10;          &lt;Text style={{ fontSize: 15, color: 'rgba(255,255,255,.62)', lineHeight: 1.65, fontFamily: 'PingFang SC', marginTop: 8 }}&gt;高亮层被 absolute+inset:0 钉死为容器高，transform 同步滚动会整体移出可视区——改为高度由内容撑开、由外层负责裁剪。&lt;/Text&gt;&#10;        &lt;/Box&gt;&#10;      &lt;/Box&gt;&#10;    &lt;/Box&gt;&#10;    {/* C 页脚 */}&#10;    &lt;Box style={{ height: 32, flexDirection: 'row', alignItems: 'center', justifyContent: 'space-between' }}&gt;&#10;      &lt;Text style={{ fontSize: 13, color: 'rgba(255,255,255,.38)', letterSpacing: '.14em', fontFamily: 'PingFang SC' }}&gt;VEX V5 编程教学仿真 · 工程日志&lt;/Text&gt;&#10;      &lt;Text style={{ fontSize: 13, color: 'rgba(255,255,255,.38)', fontFamily: 'Helvetica Neue', letterSpacing: '.06em' }}&gt;05 / 13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16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8001000" y="-1905000"/>
            <a:ext cx="5334000" cy="5334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D94D">
                  <a:alpha val="10000"/>
                </a:srgbClr>
              </a:gs>
              <a:gs pos="62000">
                <a:srgbClr val="FFD94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609600" y="476250"/>
            <a:ext cx="38100" cy="323850"/>
          </a:xfrm>
          <a:prstGeom prst="rect">
            <a:avLst/>
          </a:prstGeom>
          <a:solidFill>
            <a:srgbClr val="FFD94D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00100" y="352425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性能攻坚：让打字恢复即时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00100" y="762000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v8 </a:t>
            </a:r>
            <a:r>
              <a:rPr lang="zh-CN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系列</a:t>
            </a: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 · </a:t>
            </a:r>
            <a:r>
              <a:rPr lang="zh-CN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三类问题</a:t>
            </a: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 · </a:t>
            </a:r>
            <a:r>
              <a:rPr lang="zh-CN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三个根因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09600" y="1809750"/>
            <a:ext cx="5572125" cy="1238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100" b="1">
                <a:solidFill>
                  <a:srgbClr val="7ED6F5"/>
                </a:solidFill>
                <a:latin typeface="Helvetica Neue"/>
                <a:ea typeface="Helvetica Neue"/>
              </a:rPr>
              <a:t>60</a:t>
            </a:r>
            <a:r>
              <a:rPr lang="en-US" sz="3450" b="1">
                <a:solidFill>
                  <a:srgbClr val="FFFFFF">
                    <a:alpha val="40000"/>
                  </a:srgbClr>
                </a:solidFill>
                <a:latin typeface="Helvetica Neue"/>
                <a:ea typeface="Helvetica Neue"/>
              </a:rPr>
              <a:t>fps →</a:t>
            </a:r>
            <a:r>
              <a:rPr lang="en-US" sz="8100" b="1">
                <a:solidFill>
                  <a:srgbClr val="FFD94D"/>
                </a:solidFill>
                <a:latin typeface="Helvetica Neue"/>
                <a:ea typeface="Helvetica Neue"/>
              </a:rPr>
              <a:t> 0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9600" y="3200400"/>
            <a:ext cx="5572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3D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渲染：无条件</a:t>
            </a:r>
            <a:r>
              <a:rPr lang="en-US" sz="1425" b="1">
                <a:solidFill>
                  <a:srgbClr val="FFFFFF"/>
                </a:solidFill>
                <a:latin typeface="PingFang SC"/>
                <a:ea typeface="PingFang SC"/>
              </a:rPr>
              <a:t> 60fps → </a:t>
            </a: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按需渲染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9600" y="3514725"/>
            <a:ext cx="557212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场景循环曾每帧无条件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 renderer.render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，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Retina + 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大阴影贴图持续抢占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 GPU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，与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 textarea 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抢资源。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7ED6F5"/>
                </a:solidFill>
                <a:latin typeface="PingFang SC"/>
                <a:ea typeface="PingFang SC"/>
              </a:rPr>
              <a:t>改为</a:t>
            </a:r>
            <a:r>
              <a:rPr lang="en-US" sz="1200">
                <a:solidFill>
                  <a:srgbClr val="7ED6F5"/>
                </a:solidFill>
                <a:latin typeface="PingFang SC"/>
                <a:ea typeface="PingFang SC"/>
              </a:rPr>
              <a:t> render-on-demand</a:t>
            </a:r>
            <a:r>
              <a:rPr lang="zh-CN" sz="1200">
                <a:solidFill>
                  <a:srgbClr val="7ED6F5"/>
                </a:solidFill>
                <a:latin typeface="PingFang SC"/>
                <a:ea typeface="PingFang SC"/>
              </a:rPr>
              <a:t>：空闲零</a:t>
            </a:r>
            <a:r>
              <a:rPr lang="en-US" sz="1200">
                <a:solidFill>
                  <a:srgbClr val="7ED6F5"/>
                </a:solidFill>
                <a:latin typeface="PingFang SC"/>
                <a:ea typeface="PingFang SC"/>
              </a:rPr>
              <a:t> GPU</a:t>
            </a:r>
            <a:r>
              <a:rPr lang="zh-CN" sz="1200">
                <a:solidFill>
                  <a:srgbClr val="7ED6F5"/>
                </a:solidFill>
                <a:latin typeface="PingFang SC"/>
                <a:ea typeface="PingFang SC"/>
              </a:rPr>
              <a:t>，仅相机移动与仿真运行时渲染。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38175" y="4724400"/>
            <a:ext cx="5572125" cy="8191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609600" y="4724400"/>
            <a:ext cx="5600700" cy="819150"/>
          </a:xfrm>
          <a:custGeom>
            <a:pathLst>
              <a:path w="588" h="86">
                <a:moveTo>
                  <a:pt x="0" y="0"/>
                </a:moveTo>
                <a:lnTo>
                  <a:pt x="3" y="0"/>
                </a:lnTo>
                <a:lnTo>
                  <a:pt x="3" y="86"/>
                </a:lnTo>
                <a:lnTo>
                  <a:pt x="0" y="86"/>
                </a:lnTo>
                <a:close/>
              </a:path>
            </a:pathLst>
          </a:custGeom>
          <a:solidFill>
            <a:srgbClr val="7ED6F5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09625" y="4857750"/>
            <a:ext cx="52006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>
                    <a:alpha val="75000"/>
                  </a:srgbClr>
                </a:solidFill>
                <a:latin typeface="PingFang SC"/>
                <a:ea typeface="PingFang SC"/>
              </a:rPr>
              <a:t>判断：编辑器类产品里，流畅度是一等公民——一个常驻的重渲染循环足以毁掉整体手感。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524625" y="1543050"/>
            <a:ext cx="5057775" cy="2171700"/>
          </a:xfrm>
          <a:prstGeom prst="roundRect">
            <a:avLst>
              <a:gd name="adj" fmla="val 2632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791325" y="1790700"/>
            <a:ext cx="45243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FD94D"/>
                </a:solidFill>
                <a:latin typeface="Helvetica Neue"/>
                <a:ea typeface="Helvetica Neue"/>
              </a:rPr>
              <a:t>350ms → </a:t>
            </a:r>
            <a:r>
              <a:rPr lang="zh-CN" sz="3000" b="1">
                <a:solidFill>
                  <a:srgbClr val="FFD94D"/>
                </a:solidFill>
                <a:latin typeface="Helvetica Neue"/>
                <a:ea typeface="Helvetica Neue"/>
              </a:rPr>
              <a:t>即时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791325" y="2324100"/>
            <a:ext cx="4524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防抖阻塞了文字显示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791325" y="2609850"/>
            <a:ext cx="452437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高亮本身仅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0.4ms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、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lint 0.5ms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，瓶颈是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按键后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350ms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才渲染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的旧逻辑——改为输入立即高亮，防抖只留给错误检测，并给行号加签名缓存。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524625" y="3924300"/>
            <a:ext cx="5057775" cy="1885950"/>
          </a:xfrm>
          <a:prstGeom prst="roundRect">
            <a:avLst>
              <a:gd name="adj" fmla="val 3030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791325" y="4171950"/>
            <a:ext cx="45243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7ED6F5"/>
                </a:solidFill>
                <a:latin typeface="Helvetica Neue"/>
                <a:ea typeface="Helvetica Neue"/>
              </a:rPr>
              <a:t>inset:0 → auto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791325" y="4705350"/>
            <a:ext cx="4524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滚动后代码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"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隐形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"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791325" y="4991100"/>
            <a:ext cx="452437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高亮层被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absolute+inset:0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钉死为容器高，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transform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同步滚动会整体移出可视区——改为高度由内容撑开、由外层负责裁剪。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VEX V5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编程教学仿真</a:t>
            </a: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工程日志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11918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Helvetica Neue"/>
                <a:ea typeface="Helvetica Neue"/>
              </a:rPr>
              <a:t>05 / 13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285" name="" descr="&lt;Slide style={{ width: '1280px', height: '720px', padding: 0, background: '#0A0E16' }}&gt;&#10;  &lt;Box style={{ height: '100%', padding: '30px 64px 20px', justifyContent: 'space-between' }}&gt;&#10;    &lt;Box style={{ flexDirection: 'row', alignItems: 'center', gap: 16, height: 74 }}&gt;&#10;      &lt;Box style={{ width: 4, height: 34, background: '#7ED6F5' }} /&gt;&#10;      &lt;Box&gt;&#10;        &lt;Text style={{ fontSize: 34, fontWeight: 'bold', color: '#FFFFFF', letterSpacing: '.02em', fontFamily: 'PingFang SC' }}&gt;云端交付四连击&lt;/Text&gt;&#10;        &lt;Text style={{ fontSize: 14, color: 'rgba(255,255,255,.45)', letterSpacing: '.2em', fontFamily: 'Helvetica Neue', marginTop: 2 }}&gt;体积 · 画质 · 声音 · 兼容 · 08.21 — 08.25&lt;/Text&gt;&#10;      &lt;/Box&gt;&#10;    &lt;/Box&gt;&#10;    {/* B：左 55 问题→处理；右 45 关键链路 */}&#10;    &lt;Box style={{ flex: 1, flexDirection: 'row', gap: 34, minHeight: 0, alignItems: 'center' }}&gt;&#10;      &lt;Box style={{ width: '55%', flexDirection: 'column', gap: 2 }}&gt;&#10;        {[&#10;          ['143MB 超上传上限', 'imageio-ffmpeg 压缩 → 143 → 17MB'],&#10;          ['云端模糊 / 不播', '重压 720p CRF27 + 首帧海报 + LOADING 提示（下载仅 ~126 KB/s）'],&#10;          ['切换视频后无声', '交互状态机：userInteracted 标志按需开声 + 兜底重播'],&#10;          ['Safari 全黑屏', '网关无 Range → fetch 整段转 Blob URL 赋给 video.src'],&#10;        ].map((it, i) =&gt; (&#10;          &lt;Box key={i} style={{ flexDirection: 'row', gap: 16, padding: '15px 0', borderTop: i === 0 ? 'none' : '1px solid rgba(255,255,255,.06)' }}&gt;&#10;            &lt;Text style={{ fontSize: 19, color: 'rgba(255,255,255,.38)', fontFamily: 'Menlo, monospace', paddingTop: 2 }}&gt;0{i + 1}&lt;/Text&gt;&#10;            &lt;Box style={{ flex: 1 }}&gt;&#10;              &lt;Text style={{ fontSize: 17, fontWeight: 'bold', color: '#FFFFFF', fontFamily: 'PingFang SC' }}&gt;&#10;                &lt;span style={{ color: 'rgba(240,150,150,.95)' }}&gt;{it[0]}&lt;/span&gt;&#10;              &lt;/Text&gt;&#10;              &lt;Text style={{ fontSize: 15.5, color: 'rgba(126,214,245,.88)', lineHeight: 1.6, fontFamily: 'PingFang SC', marginTop: 4 }}&gt;{it[1]}&lt;/Text&gt;&#10;            &lt;/Box&gt;&#10;          &lt;/Box&gt;&#10;        ))}&#10;        &lt;Box style={{ flexDirection: 'row', alignItems: 'center', gap: 12, marginTop: 14, paddingTop: 16, borderTop: '1px solid rgba(255,255,255,.09)' }}&gt;&#10;          &lt;Box style={{ width: 8, height: 8, borderRadius: 4, background: '#7ED6F5' }} /&gt;&#10;          &lt;Text style={{ flex: 1, fontSize: 15, color: 'rgba(255,255,255,.6)', lineHeight: 1.6, fontFamily: 'PingFang SC' }}&gt;判断：Web 交付的隐性成本在&quot;环境差异&quot;，每个坑都沉淀为长期约定，而非一次性补丁。&lt;/Text&gt;&#10;        &lt;/Box&gt;&#10;      &lt;/Box&gt;&#10;      {/* 右 45%：Range 链路示意 */}&#10;      &lt;Box style={{ width: '45%', background: '#0D1420', border: '1px solid rgba(255,255,255,.09)', borderRadius: 6, padding: '28px 30px', justifyContent: 'center' }}&gt;&#10;        &lt;Text style={{ fontSize: 15, color: 'rgba(255,217,77,.9)', letterSpacing: '.28em', fontFamily: 'Helvetica Neue', marginBottom: 18 }}&gt;KEY BUG · NO RANGE&lt;/Text&gt;&#10;        {[&#10;          ['&lt;video src=…&gt;', 'Safari 发起 Range 请求'],&#10;          ['网关', '不支持 Range → 返回整文件'],&#10;          ['Safari', '媒体源不满足 → 直接拒播'],&#10;        ].map((it, i) =&gt; (&#10;          &lt;Box key={i} style={{ flexDirection: 'row', alignItems: 'center', gap: 14, padding: '10px 0' }}&gt;&#10;            &lt;Text style={{ width: 30, fontSize: 13, color: 'rgba(255,255,255,.35)', fontFamily: 'Menlo, monospace' }}&gt;→ {i + 1}&lt;/Text&gt;&#10;            &lt;Text style={{ fontSize: 16, fontWeight: 'bold', color: '#FFFFFF', fontFamily: 'Menlo, monospace' }}&gt;{it[0]}&lt;/Text&gt;&#10;            &lt;Text style={{ flex: 1, fontSize: 14, color: 'rgba(255,255,255,.55)', lineHeight: 1.5, textAlign: 'right', fontFamily: 'PingFang SC' }}&gt;{it[1]}&lt;/Text&gt;&#10;          &lt;/Box&gt;&#10;        ))}&#10;        &lt;Box style={{ marginTop: 12, padding: '16px 18px', background: 'rgba(126,214,245,.09)', borderRadius: 4 }}&gt;&#10;          &lt;Text style={{ fontSize: 16, color: '#FFFFFF', fontFamily: 'Menlo, monospace', lineHeight: 1.6 }}&gt;fetch(url) → blob → &lt;span style={{ color: '#FFD94D' }}&gt;createObjectURL&lt;/span&gt;&lt;/Text&gt;&#10;          &lt;Text style={{ fontSize: 13.5, color: 'rgba(255,255,255,.6)', lineHeight: 1.6, fontFamily: 'PingFang SC', marginTop: 6 }}&gt;Blob URL 不依赖 Range；本地 file:// 直连跳过此路径。&lt;/Text&gt;&#10;        &lt;/Box&gt;&#10;      &lt;/Box&gt;&#10;    &lt;/Box&gt;&#10;    {/* C 页脚 */}&#10;    &lt;Box style={{ height: 32, flexDirection: 'row', alignItems: 'center', justifyContent: 'space-between' }}&gt;&#10;      &lt;Text style={{ fontSize: 13, color: 'rgba(255,255,255,.38)', letterSpacing: '.14em', fontFamily: 'PingFang SC' }}&gt;VEX V5 编程教学仿真 · 工程日志&lt;/Text&gt;&#10;      &lt;Text style={{ fontSize: 13, color: 'rgba(255,255,255,.38)', fontFamily: 'Helvetica Neue', letterSpacing: '.06em' }}&gt;06 / 13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16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609600" y="476250"/>
            <a:ext cx="38100" cy="323850"/>
          </a:xfrm>
          <a:prstGeom prst="rect">
            <a:avLst/>
          </a:prstGeom>
          <a:solidFill>
            <a:srgbClr val="7ED6F5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00100" y="352425"/>
            <a:ext cx="2390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云端交付四连击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00100" y="762000"/>
            <a:ext cx="2390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体积</a:t>
            </a: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 · </a:t>
            </a:r>
            <a:r>
              <a:rPr lang="zh-CN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画质</a:t>
            </a: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 · </a:t>
            </a:r>
            <a:r>
              <a:rPr lang="zh-CN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声音</a:t>
            </a: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 · </a:t>
            </a:r>
            <a:r>
              <a:rPr lang="zh-CN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兼容</a:t>
            </a: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 · 08.21 — 08.25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09600" y="1866900"/>
            <a:ext cx="219075" cy="523875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38000"/>
                  </a:srgbClr>
                </a:solidFill>
                <a:latin typeface="Menlo"/>
                <a:ea typeface="Menlo"/>
              </a:rPr>
              <a:t>0</a:t>
            </a:r>
            <a:r>
              <a:rPr lang="en-US" sz="1425">
                <a:solidFill>
                  <a:srgbClr val="FFFFFF">
                    <a:alpha val="38000"/>
                  </a:srgbClr>
                </a:solidFill>
                <a:latin typeface="Menlo"/>
                <a:ea typeface="Menlo"/>
              </a:rPr>
              <a:t>1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981075" y="1866900"/>
            <a:ext cx="548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09696">
                    <a:alpha val="95000"/>
                  </a:srgbClr>
                </a:solidFill>
                <a:latin typeface="PingFang SC"/>
                <a:ea typeface="PingFang SC"/>
              </a:rPr>
              <a:t>143MB </a:t>
            </a:r>
            <a:r>
              <a:rPr lang="zh-CN" sz="1275" b="1">
                <a:solidFill>
                  <a:srgbClr val="F09696">
                    <a:alpha val="95000"/>
                  </a:srgbClr>
                </a:solidFill>
                <a:latin typeface="PingFang SC"/>
                <a:ea typeface="PingFang SC"/>
              </a:rPr>
              <a:t>超上传上限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981075" y="2105025"/>
            <a:ext cx="548640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imageio-ffmpeg </a:t>
            </a:r>
            <a:r>
              <a:rPr lang="zh-CN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压缩</a:t>
            </a:r>
            <a:r>
              <a:rPr lang="en-US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 → 143 → 17MB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09600" y="2552700"/>
            <a:ext cx="5857875" cy="828675"/>
          </a:xfrm>
          <a:custGeom>
            <a:pathLst>
              <a:path w="615" h="87">
                <a:moveTo>
                  <a:pt x="0" y="0"/>
                </a:moveTo>
                <a:lnTo>
                  <a:pt x="615" y="0"/>
                </a:lnTo>
                <a:lnTo>
                  <a:pt x="615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09600" y="2705100"/>
            <a:ext cx="219075" cy="523875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38000"/>
                  </a:srgbClr>
                </a:solidFill>
                <a:latin typeface="Menlo"/>
                <a:ea typeface="Menlo"/>
              </a:rPr>
              <a:t>0</a:t>
            </a:r>
            <a:r>
              <a:rPr lang="en-US" sz="1425">
                <a:solidFill>
                  <a:srgbClr val="FFFFFF">
                    <a:alpha val="38000"/>
                  </a:srgbClr>
                </a:solidFill>
                <a:latin typeface="Menlo"/>
                <a:ea typeface="Menlo"/>
              </a:rPr>
              <a:t>2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981075" y="2705100"/>
            <a:ext cx="548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09696">
                    <a:alpha val="95000"/>
                  </a:srgbClr>
                </a:solidFill>
                <a:latin typeface="PingFang SC"/>
                <a:ea typeface="PingFang SC"/>
              </a:rPr>
              <a:t>云端模糊</a:t>
            </a:r>
            <a:r>
              <a:rPr lang="en-US" sz="1275" b="1">
                <a:solidFill>
                  <a:srgbClr val="F09696">
                    <a:alpha val="95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275" b="1">
                <a:solidFill>
                  <a:srgbClr val="F09696">
                    <a:alpha val="95000"/>
                  </a:srgbClr>
                </a:solidFill>
                <a:latin typeface="PingFang SC"/>
                <a:ea typeface="PingFang SC"/>
              </a:rPr>
              <a:t>不播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981075" y="2943225"/>
            <a:ext cx="548640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重压</a:t>
            </a:r>
            <a:r>
              <a:rPr lang="en-US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 720p CRF27 + </a:t>
            </a:r>
            <a:r>
              <a:rPr lang="zh-CN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首帧海报</a:t>
            </a:r>
            <a:r>
              <a:rPr lang="en-US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 + LOADING </a:t>
            </a:r>
            <a:r>
              <a:rPr lang="zh-CN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提示（下载仅</a:t>
            </a:r>
            <a:r>
              <a:rPr lang="en-US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 ~126 KB/s</a:t>
            </a:r>
            <a:r>
              <a:rPr lang="zh-CN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09600" y="3390900"/>
            <a:ext cx="5857875" cy="828675"/>
          </a:xfrm>
          <a:custGeom>
            <a:pathLst>
              <a:path w="615" h="87">
                <a:moveTo>
                  <a:pt x="0" y="0"/>
                </a:moveTo>
                <a:lnTo>
                  <a:pt x="615" y="0"/>
                </a:lnTo>
                <a:lnTo>
                  <a:pt x="615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09600" y="3543300"/>
            <a:ext cx="219075" cy="523875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38000"/>
                  </a:srgbClr>
                </a:solidFill>
                <a:latin typeface="Menlo"/>
                <a:ea typeface="Menlo"/>
              </a:rPr>
              <a:t>0</a:t>
            </a:r>
            <a:r>
              <a:rPr lang="en-US" sz="1425">
                <a:solidFill>
                  <a:srgbClr val="FFFFFF">
                    <a:alpha val="38000"/>
                  </a:srgbClr>
                </a:solidFill>
                <a:latin typeface="Menlo"/>
                <a:ea typeface="Menlo"/>
              </a:rPr>
              <a:t>3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981075" y="3543300"/>
            <a:ext cx="548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09696">
                    <a:alpha val="95000"/>
                  </a:srgbClr>
                </a:solidFill>
                <a:latin typeface="PingFang SC"/>
                <a:ea typeface="PingFang SC"/>
              </a:rPr>
              <a:t>切换视频后无声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981075" y="3781425"/>
            <a:ext cx="548640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交互状态机：</a:t>
            </a:r>
            <a:r>
              <a:rPr lang="en-US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userInteracted </a:t>
            </a:r>
            <a:r>
              <a:rPr lang="zh-CN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标志按需开声</a:t>
            </a:r>
            <a:r>
              <a:rPr lang="en-US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 + </a:t>
            </a:r>
            <a:r>
              <a:rPr lang="zh-CN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兜底重播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09600" y="4229100"/>
            <a:ext cx="5857875" cy="828675"/>
          </a:xfrm>
          <a:custGeom>
            <a:pathLst>
              <a:path w="615" h="87">
                <a:moveTo>
                  <a:pt x="0" y="0"/>
                </a:moveTo>
                <a:lnTo>
                  <a:pt x="615" y="0"/>
                </a:lnTo>
                <a:lnTo>
                  <a:pt x="615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09600" y="4381500"/>
            <a:ext cx="219075" cy="523875"/>
          </a:xfrm>
          <a:prstGeom prst="rect"/>
        </p:spPr>
        <p:txBody>
          <a:bodyPr wrap="none" lIns="0" tIns="14288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38000"/>
                  </a:srgbClr>
                </a:solidFill>
                <a:latin typeface="Menlo"/>
                <a:ea typeface="Menlo"/>
              </a:rPr>
              <a:t>0</a:t>
            </a:r>
            <a:r>
              <a:rPr lang="en-US" sz="1425">
                <a:solidFill>
                  <a:srgbClr val="FFFFFF">
                    <a:alpha val="38000"/>
                  </a:srgbClr>
                </a:solidFill>
                <a:latin typeface="Menlo"/>
                <a:ea typeface="Menlo"/>
              </a:rPr>
              <a:t>4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981075" y="4381500"/>
            <a:ext cx="548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09696">
                    <a:alpha val="95000"/>
                  </a:srgbClr>
                </a:solidFill>
                <a:latin typeface="PingFang SC"/>
                <a:ea typeface="PingFang SC"/>
              </a:rPr>
              <a:t>Safari </a:t>
            </a:r>
            <a:r>
              <a:rPr lang="zh-CN" sz="1275" b="1">
                <a:solidFill>
                  <a:srgbClr val="F09696">
                    <a:alpha val="95000"/>
                  </a:srgbClr>
                </a:solidFill>
                <a:latin typeface="PingFang SC"/>
                <a:ea typeface="PingFang SC"/>
              </a:rPr>
              <a:t>全黑屏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981075" y="4619625"/>
            <a:ext cx="548640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网关无</a:t>
            </a:r>
            <a:r>
              <a:rPr lang="en-US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 Range → fetch </a:t>
            </a:r>
            <a:r>
              <a:rPr lang="zh-CN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整段转</a:t>
            </a:r>
            <a:r>
              <a:rPr lang="en-US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 Blob URL </a:t>
            </a:r>
            <a:r>
              <a:rPr lang="zh-CN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赋给</a:t>
            </a:r>
            <a:r>
              <a:rPr lang="en-US" sz="1163">
                <a:solidFill>
                  <a:srgbClr val="7ED6F5">
                    <a:alpha val="88000"/>
                  </a:srgbClr>
                </a:solidFill>
                <a:latin typeface="PingFang SC"/>
                <a:ea typeface="PingFang SC"/>
              </a:rPr>
              <a:t> video.src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09600" y="5200650"/>
            <a:ext cx="5857875" cy="447675"/>
          </a:xfrm>
          <a:custGeom>
            <a:pathLst>
              <a:path w="615" h="47">
                <a:moveTo>
                  <a:pt x="0" y="0"/>
                </a:moveTo>
                <a:lnTo>
                  <a:pt x="615" y="0"/>
                </a:lnTo>
                <a:lnTo>
                  <a:pt x="615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9000"/>
            </a:srgbClr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609600" y="54673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7ED6F5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00100" y="5362575"/>
            <a:ext cx="5667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判断：</a:t>
            </a:r>
            <a:r>
              <a:rPr lang="en-US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Web 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交付的隐性成本在</a:t>
            </a:r>
            <a:r>
              <a:rPr lang="en-US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环境差异</a:t>
            </a:r>
            <a:r>
              <a:rPr lang="en-US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，每个坑都沉淀为长期约定，而非一次性补丁。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791325" y="2076450"/>
            <a:ext cx="4791075" cy="3209925"/>
          </a:xfrm>
          <a:prstGeom prst="roundRect">
            <a:avLst>
              <a:gd name="adj" fmla="val 1780"/>
            </a:avLst>
          </a:prstGeom>
          <a:solidFill>
            <a:srgbClr val="0D1420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7077075" y="2343150"/>
            <a:ext cx="4219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D94D">
                    <a:alpha val="90000"/>
                  </a:srgbClr>
                </a:solidFill>
                <a:latin typeface="Helvetica Neue"/>
                <a:ea typeface="Helvetica Neue"/>
              </a:rPr>
              <a:t>KEY BUG · NO RANGE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7077075" y="2828925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5000"/>
                  </a:srgbClr>
                </a:solidFill>
                <a:latin typeface="Menlo"/>
                <a:ea typeface="Menlo"/>
              </a:rPr>
              <a:t>→ </a:t>
            </a:r>
            <a:r>
              <a:rPr lang="en-US" sz="975">
                <a:solidFill>
                  <a:srgbClr val="FFFFFF">
                    <a:alpha val="35000"/>
                  </a:srgbClr>
                </a:solidFill>
                <a:latin typeface="Menlo"/>
                <a:ea typeface="Menlo"/>
              </a:rPr>
              <a:t>1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7496175" y="2809875"/>
            <a:ext cx="120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enlo"/>
                <a:ea typeface="Menlo"/>
              </a:rPr>
              <a:t>&lt;video src=…&gt;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829675" y="2781300"/>
            <a:ext cx="2466975" cy="247650"/>
          </a:xfrm>
          <a:prstGeom prst="rect"/>
        </p:spPr>
        <p:txBody>
          <a:bodyPr wrap="none" lIns="0" tIns="0" rIns="0" bIns="0"/>
          <a:p>
            <a:pPr algn="r">
              <a:lnSpc>
                <a:spcPct val="15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Safari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发起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 Range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请求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077075" y="3267075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5000"/>
                  </a:srgbClr>
                </a:solidFill>
                <a:latin typeface="Menlo"/>
                <a:ea typeface="Menlo"/>
              </a:rPr>
              <a:t>→ </a:t>
            </a:r>
            <a:r>
              <a:rPr lang="en-US" sz="975">
                <a:solidFill>
                  <a:srgbClr val="FFFFFF">
                    <a:alpha val="35000"/>
                  </a:srgbClr>
                </a:solidFill>
                <a:latin typeface="Menlo"/>
                <a:ea typeface="Menlo"/>
              </a:rPr>
              <a:t>2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7496175" y="324802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enlo"/>
                <a:ea typeface="Menlo"/>
              </a:rPr>
              <a:t>网关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7934325" y="3219450"/>
            <a:ext cx="3362325" cy="247650"/>
          </a:xfrm>
          <a:prstGeom prst="rect"/>
        </p:spPr>
        <p:txBody>
          <a:bodyPr wrap="none" lIns="0" tIns="0" rIns="0" bIns="0"/>
          <a:p>
            <a:pPr algn="r"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不支持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 Range →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返回整文件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7077075" y="3705225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5000"/>
                  </a:srgbClr>
                </a:solidFill>
                <a:latin typeface="Menlo"/>
                <a:ea typeface="Menlo"/>
              </a:rPr>
              <a:t>→ </a:t>
            </a:r>
            <a:r>
              <a:rPr lang="en-US" sz="975">
                <a:solidFill>
                  <a:srgbClr val="FFFFFF">
                    <a:alpha val="35000"/>
                  </a:srgbClr>
                </a:solidFill>
                <a:latin typeface="Menlo"/>
                <a:ea typeface="Menlo"/>
              </a:rPr>
              <a:t>3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496175" y="3686175"/>
            <a:ext cx="552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enlo"/>
                <a:ea typeface="Menlo"/>
              </a:rPr>
              <a:t>Safari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181975" y="3657600"/>
            <a:ext cx="3114675" cy="247650"/>
          </a:xfrm>
          <a:prstGeom prst="rect"/>
        </p:spPr>
        <p:txBody>
          <a:bodyPr wrap="none" lIns="0" tIns="0" rIns="0" bIns="0"/>
          <a:p>
            <a:pPr algn="r"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媒体源不满足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直接拒播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7077075" y="4114800"/>
            <a:ext cx="4219575" cy="904875"/>
          </a:xfrm>
          <a:prstGeom prst="roundRect">
            <a:avLst>
              <a:gd name="adj" fmla="val 4211"/>
            </a:avLst>
          </a:prstGeom>
          <a:solidFill>
            <a:srgbClr val="7ED6F5">
              <a:alpha val="9000"/>
            </a:srgbClr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248525" y="4267200"/>
            <a:ext cx="38766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FFFFFF"/>
                </a:solidFill>
                <a:latin typeface="Menlo"/>
                <a:ea typeface="Menlo"/>
              </a:rPr>
              <a:t>fetch(url) → blob → </a:t>
            </a:r>
            <a:r>
              <a:rPr lang="en-US" sz="1200">
                <a:solidFill>
                  <a:srgbClr val="FFD94D"/>
                </a:solidFill>
                <a:latin typeface="Menlo"/>
                <a:ea typeface="Menlo"/>
              </a:rPr>
              <a:t>createObjectURL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248525" y="4619625"/>
            <a:ext cx="3876675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13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Blob URL </a:t>
            </a:r>
            <a:r>
              <a:rPr lang="zh-CN" sz="1013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不依赖</a:t>
            </a:r>
            <a:r>
              <a:rPr lang="en-US" sz="1013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Range</a:t>
            </a:r>
            <a:r>
              <a:rPr lang="zh-CN" sz="1013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；本地</a:t>
            </a:r>
            <a:r>
              <a:rPr lang="en-US" sz="1013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file:// </a:t>
            </a:r>
            <a:r>
              <a:rPr lang="zh-CN" sz="1013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直连跳过此路径。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VEX V5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编程教学仿真</a:t>
            </a: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工程日志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11918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Helvetica Neue"/>
                <a:ea typeface="Helvetica Neue"/>
              </a:rPr>
              <a:t>06 / 13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324" name="" descr="&lt;Slide style={{ width: '1280px', height: '720px', padding: 0, background: '#0A0E16' }}&gt;&#10;  &lt;Box style={{ height: '100%', padding: '30px 64px 20px', justifyContent: 'space-between' }}&gt;&#10;    &lt;Box style={{ flexDirection: 'row', alignItems: 'center', gap: 16, height: 74 }}&gt;&#10;      &lt;Box style={{ width: 4, height: 34, background: '#7ED6F5' }} /&gt;&#10;      &lt;Box&gt;&#10;        &lt;Text style={{ fontSize: 34, fontWeight: 'bold', color: '#FFFFFF', letterSpacing: '.02em', fontFamily: 'PingFang SC' }}&gt;从&quot;指令播放器&quot;到&quot;程序解释器&quot;&lt;/Text&gt;&#10;        &lt;Text style={{ fontSize: 14, color: 'rgba(255,255,255,.45)', letterSpacing: '.2em', fontFamily: 'Helvetica Neue', marginTop: 2 }}&gt;超声波传感器 · 控制流 · 09.02 — 09.03&lt;/Text&gt;&#10;      &lt;/Box&gt;&#10;    &lt;/Box&gt;&#10;    {/* 左 42 传感器 */}&#10;    &lt;Box style={{ position: 'absolute', left: 64, top: 140, bottom: 74, width: '30%', flexDirection: 'column', justifyContent: 'center' }}&gt;&#10;      &lt;Box style={{ background: 'rgba(255,255,255,.045)', border: '1px solid rgba(255,255,255,.09)', borderRadius: 6, padding: '26px 26px' }}&gt;&#10;        &lt;Text style={{ fontSize: 15, color: 'rgba(126,214,245,.85)', letterSpacing: '.24em', fontFamily: 'Helvetica Neue', marginBottom: 12 }}&gt;SONAR&lt;/Text&gt;&#10;        &lt;Text style={{ fontSize: 19, fontWeight: 'bold', color: '#FFFFFF', fontFamily: 'PingFang SC' }}&gt;超声波实时测距&lt;/Text&gt;&#10;        &lt;Text style={{ fontSize: 15, color: 'rgba(255,255,255,.62)', lineHeight: 1.7, fontFamily: 'PingFang SC', marginTop: 10 }}&gt;车头传感器 + 射线测距，只认场地围栏内壁、忽略小球；量程 3000mm，左上 HUD 实时读数，近距红色警示 + 粉色激光可视化。&lt;/Text&gt;&#10;      &lt;/Box&gt;&#10;      &lt;Box style={{ marginTop: 18, background: '#0D1420', border: '1px solid rgba(255,255,255,.09)', borderRadius: 6, padding: '18px 20px' }}&gt;&#10;        &lt;Text style={{ fontSize: 14, color: 'rgba(255,217,77,.9)', fontFamily: 'Menlo, monospace' }}&gt;while(DistanceSensor.distance(mm) &amp;gt; N)&lt;/Text&gt;&#10;        &lt;Text style={{ fontSize: 14, color: 'rgba(126,214,245,.95)', fontFamily: 'Menlo, monospace', marginTop: 4 }}&gt;{'{ drive(forward); }'}  →  __driveUntil(N)&lt;/Text&gt;&#10;        &lt;Text style={{ fontSize: 13, color: 'rgba(255,255,255,.55)', lineHeight: 1.6, fontFamily: 'PingFang SC', marginTop: 10 }}&gt;linter 折叠为专用指令；sim 阈值在移动前检查，达标当帧即停车。&lt;/Text&gt;&#10;      &lt;/Box&gt;&#10;    &lt;/Box&gt;&#10;    {/* 右 58 控制流 */}&#10;    &lt;Box style={{ position: 'absolute', right: 64, top: 140, bottom: 74, left: '42%', flexDirection: 'column', justifyContent: 'center', gap: 2 }}&gt;&#10;      &lt;Text style={{ fontSize: 15, color: 'rgba(126,214,245,.85)', letterSpacing: '.24em', fontFamily: 'Helvetica Neue', marginBottom: 10 }}&gt;CONTROL FLOW&lt;/Text&gt;&#10;      {[&#10;        ['旧', 'walk 线性扫描 main 体 —— if 不判断条件，while 只跑一次，结构形同虚设'],&#10;        ['新', 'parseBlock 递归下降解析 → AST；内部节点 if / while，叶子为 drive / turn / arm 等命令'],&#10;        ['执行', 'sim 从命令队列改为执行栈：顺序帧 + 循环帧；条件经 evalCond 实时求值'],&#10;        ['安全', 'MAX_LOOP=100 防死循环；无控制流代码仍输出扁平命令，历史行为零回归'],&#10;      ].map((it, i) =&gt; (&#10;        &lt;Box key={i} style={{ flexDirection: 'row', gap: 18, padding: '13px 0', borderTop: i === 0 ? 'none' : '1px solid rgba(255,255,255,.06)' }}&gt;&#10;          &lt;Text style={{ width: 52, fontSize: 18, fontWeight: 'bold', color: i === 0 ? 'rgba(240,150,150,.9)' : '#FFD94D', fontFamily: 'Helvetica Neue' }}&gt;{it[0]}&lt;/Text&gt;&#10;          &lt;Text style={{ flex: 1, fontSize: 15.5, color: 'rgba(255,255,255,.66)', lineHeight: 1.6, fontFamily: 'PingFang SC' }}&gt;{it[1]}&lt;/Text&gt;&#10;        &lt;/Box&gt;&#10;      ))}&#10;      &lt;Box style={{ marginTop: 16, padding: '16px 20px', background: 'rgba(255,255,255,.045)', borderLeft: '3px solid #7ED6F5' }}&gt;&#10;        &lt;Text style={{ fontSize: 15, color: 'rgba(255,255,255,.75)', lineHeight: 1.65, fontFamily: 'PingFang SC' }}&gt;判断：解析器与执行器的重写，让仿真从&quot;读一条动一下&quot;升级为可表达真实程序结构的解释器。&lt;/Text&gt;&#10;      &lt;/Box&gt;&#10;    &lt;/Box&gt;&#10;    {/* C 页脚 */}&#10;    &lt;Box style={{ position: 'absolute', left: 64, right: 64, bottom: 20, height: 32, flexDirection: 'row', alignItems: 'center', justifyContent: 'space-between' }}&gt;&#10;      &lt;Text style={{ fontSize: 13, color: 'rgba(255,255,255,.38)', letterSpacing: '.14em', fontFamily: 'PingFang SC' }}&gt;VEX V5 编程教学仿真 · 工程日志&lt;/Text&gt;&#10;      &lt;Text style={{ fontSize: 13, color: 'rgba(255,255,255,.38)', fontFamily: 'Helvetica Neue', letterSpacing: '.06em' }}&gt;07 / 13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16"/>
          </a:solidFill>
          <a:ln/>
        </p:spPr>
        <p:txBody>
          <a:bodyPr/>
          <a:p/>
        </p:txBody>
      </p:sp>
      <p:sp>
        <p:nvSpPr>
          <p:cNvPr id="326" name=""/>
          <p:cNvSpPr/>
          <p:nvPr/>
        </p:nvSpPr>
        <p:spPr>
          <a:xfrm rot="0" flipH="0" flipV="0">
            <a:off x="609600" y="476250"/>
            <a:ext cx="38100" cy="323850"/>
          </a:xfrm>
          <a:prstGeom prst="rect">
            <a:avLst/>
          </a:prstGeom>
          <a:solidFill>
            <a:srgbClr val="7ED6F5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00100" y="352425"/>
            <a:ext cx="4524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从</a:t>
            </a:r>
            <a:r>
              <a:rPr lang="en-US" sz="2550" b="1">
                <a:solidFill>
                  <a:srgbClr val="FFFFFF"/>
                </a:solidFill>
                <a:latin typeface="PingFang SC"/>
                <a:ea typeface="PingFang SC"/>
              </a:rPr>
              <a:t>"</a:t>
            </a: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指令播放器</a:t>
            </a:r>
            <a:r>
              <a:rPr lang="en-US" sz="2550" b="1">
                <a:solidFill>
                  <a:srgbClr val="FFFFFF"/>
                </a:solidFill>
                <a:latin typeface="PingFang SC"/>
                <a:ea typeface="PingFang SC"/>
              </a:rPr>
              <a:t>"</a:t>
            </a: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到</a:t>
            </a:r>
            <a:r>
              <a:rPr lang="en-US" sz="2550" b="1">
                <a:solidFill>
                  <a:srgbClr val="FFFFFF"/>
                </a:solidFill>
                <a:latin typeface="PingFang SC"/>
                <a:ea typeface="PingFang SC"/>
              </a:rPr>
              <a:t>"</a:t>
            </a: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程序解释器</a:t>
            </a:r>
            <a:r>
              <a:rPr lang="en-US" sz="2550" b="1">
                <a:solidFill>
                  <a:srgbClr val="FFFFFF"/>
                </a:solidFill>
                <a:latin typeface="PingFang SC"/>
                <a:ea typeface="PingFang SC"/>
              </a:rPr>
              <a:t>"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00100" y="762000"/>
            <a:ext cx="452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超声波传感器</a:t>
            </a: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 · </a:t>
            </a:r>
            <a:r>
              <a:rPr lang="zh-CN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控制流</a:t>
            </a: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 · 09.02 — 09.03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609600" y="2038350"/>
            <a:ext cx="3657600" cy="1971675"/>
          </a:xfrm>
          <a:prstGeom prst="roundRect">
            <a:avLst>
              <a:gd name="adj" fmla="val 2899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57250" y="2286000"/>
            <a:ext cx="3162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ED6F5">
                    <a:alpha val="85000"/>
                  </a:srgbClr>
                </a:solidFill>
                <a:latin typeface="Helvetica Neue"/>
                <a:ea typeface="Helvetica Neue"/>
              </a:rPr>
              <a:t>SONAR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57250" y="2571750"/>
            <a:ext cx="3162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超声波实时测距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57250" y="2886075"/>
            <a:ext cx="31623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车头传感器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射线测距，只认场地围栏内壁、忽略小球；量程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3000mm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，左上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HUD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实时读数，近距红色警示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+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粉色激光可视化。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609600" y="4181475"/>
            <a:ext cx="3657600" cy="1276350"/>
          </a:xfrm>
          <a:prstGeom prst="roundRect">
            <a:avLst>
              <a:gd name="adj" fmla="val 4478"/>
            </a:avLst>
          </a:prstGeom>
          <a:solidFill>
            <a:srgbClr val="0D1420"/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00100" y="4352925"/>
            <a:ext cx="3276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D94D">
                    <a:alpha val="90000"/>
                  </a:srgbClr>
                </a:solidFill>
                <a:latin typeface="Menlo"/>
                <a:ea typeface="Menlo"/>
              </a:rPr>
              <a:t>while(DistanceSensor.distance(mm) &gt; N)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00100" y="4552950"/>
            <a:ext cx="3276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ED6F5">
                    <a:alpha val="95000"/>
                  </a:srgbClr>
                </a:solidFill>
                <a:latin typeface="Menlo"/>
                <a:ea typeface="Menlo"/>
              </a:rPr>
              <a:t>{ drive(forward); }</a:t>
            </a:r>
            <a:r>
              <a:rPr lang="en-US" sz="1050">
                <a:solidFill>
                  <a:srgbClr val="7ED6F5">
                    <a:alpha val="95000"/>
                  </a:srgbClr>
                </a:solidFill>
                <a:latin typeface="Menlo"/>
                <a:ea typeface="Menlo"/>
              </a:rPr>
              <a:t>  →  __driveUntil(N)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00100" y="4810125"/>
            <a:ext cx="32766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linter </a:t>
            </a:r>
            <a:r>
              <a:rPr lang="zh-CN" sz="975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折叠为专用指令；</a:t>
            </a:r>
            <a:r>
              <a:rPr lang="en-US" sz="975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sim </a:t>
            </a:r>
            <a:r>
              <a:rPr lang="zh-CN" sz="975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阈值在移动前检查，达标当帧即停车。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124450" y="1971675"/>
            <a:ext cx="6457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ED6F5">
                    <a:alpha val="85000"/>
                  </a:srgbClr>
                </a:solidFill>
                <a:latin typeface="Helvetica Neue"/>
                <a:ea typeface="Helvetica Neue"/>
              </a:rPr>
              <a:t>CONTROL FLOW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124450" y="2381250"/>
            <a:ext cx="495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09696">
                    <a:alpha val="90000"/>
                  </a:srgbClr>
                </a:solidFill>
                <a:latin typeface="Helvetica Neue"/>
                <a:ea typeface="Helvetica Neue"/>
              </a:rPr>
              <a:t>旧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5791200" y="2381250"/>
            <a:ext cx="579120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walk </a:t>
            </a:r>
            <a:r>
              <a:rPr lang="zh-CN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线性扫描</a:t>
            </a:r>
            <a:r>
              <a:rPr lang="en-US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 main </a:t>
            </a:r>
            <a:r>
              <a:rPr lang="zh-CN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体</a:t>
            </a:r>
            <a:r>
              <a:rPr lang="en-US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 —— if </a:t>
            </a:r>
            <a:r>
              <a:rPr lang="zh-CN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不判断条件，</a:t>
            </a:r>
            <a:r>
              <a:rPr lang="en-US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while </a:t>
            </a:r>
            <a:r>
              <a:rPr lang="zh-CN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只跑一次，结构形同虚设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5124450" y="2809875"/>
            <a:ext cx="6457950" cy="838200"/>
          </a:xfrm>
          <a:custGeom>
            <a:pathLst>
              <a:path w="678" h="88">
                <a:moveTo>
                  <a:pt x="0" y="0"/>
                </a:moveTo>
                <a:lnTo>
                  <a:pt x="678" y="0"/>
                </a:lnTo>
                <a:lnTo>
                  <a:pt x="67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124450" y="2943225"/>
            <a:ext cx="4953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D94D"/>
                </a:solidFill>
                <a:latin typeface="Helvetica Neue"/>
                <a:ea typeface="Helvetica Neue"/>
              </a:rPr>
              <a:t>新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791200" y="2943225"/>
            <a:ext cx="57912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parseBlock </a:t>
            </a:r>
            <a:r>
              <a:rPr lang="zh-CN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递归下降解析</a:t>
            </a:r>
            <a:r>
              <a:rPr lang="en-US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 → AST</a:t>
            </a:r>
            <a:r>
              <a:rPr lang="zh-CN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；内部节点</a:t>
            </a:r>
            <a:r>
              <a:rPr lang="en-US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 if / while</a:t>
            </a:r>
            <a:r>
              <a:rPr lang="zh-CN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，叶子为</a:t>
            </a:r>
            <a:r>
              <a:rPr lang="en-US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 drive / turn / arm </a:t>
            </a:r>
            <a:r>
              <a:rPr lang="zh-CN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等命令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5124450" y="3657600"/>
            <a:ext cx="6457950" cy="552450"/>
          </a:xfrm>
          <a:custGeom>
            <a:pathLst>
              <a:path w="678" h="58">
                <a:moveTo>
                  <a:pt x="0" y="0"/>
                </a:moveTo>
                <a:lnTo>
                  <a:pt x="678" y="0"/>
                </a:lnTo>
                <a:lnTo>
                  <a:pt x="67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124450" y="3790950"/>
            <a:ext cx="495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D94D"/>
                </a:solidFill>
                <a:latin typeface="Helvetica Neue"/>
                <a:ea typeface="Helvetica Neue"/>
              </a:rPr>
              <a:t>执行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5791200" y="3790950"/>
            <a:ext cx="579120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sim </a:t>
            </a:r>
            <a:r>
              <a:rPr lang="zh-CN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从命令队列改为执行栈：顺序帧</a:t>
            </a:r>
            <a:r>
              <a:rPr lang="en-US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 + </a:t>
            </a:r>
            <a:r>
              <a:rPr lang="zh-CN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循环帧；条件经</a:t>
            </a:r>
            <a:r>
              <a:rPr lang="en-US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 evalCond </a:t>
            </a:r>
            <a:r>
              <a:rPr lang="zh-CN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实时求值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5124450" y="4219575"/>
            <a:ext cx="6457950" cy="552450"/>
          </a:xfrm>
          <a:custGeom>
            <a:pathLst>
              <a:path w="678" h="58">
                <a:moveTo>
                  <a:pt x="0" y="0"/>
                </a:moveTo>
                <a:lnTo>
                  <a:pt x="678" y="0"/>
                </a:lnTo>
                <a:lnTo>
                  <a:pt x="67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5124450" y="4352925"/>
            <a:ext cx="4953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D94D"/>
                </a:solidFill>
                <a:latin typeface="Helvetica Neue"/>
                <a:ea typeface="Helvetica Neue"/>
              </a:rPr>
              <a:t>安全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791200" y="4352925"/>
            <a:ext cx="579120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MAX_LOOP=100 </a:t>
            </a:r>
            <a:r>
              <a:rPr lang="zh-CN" sz="1163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防死循环；无控制流代码仍输出扁平命令，历史行为零回归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5153025" y="4933950"/>
            <a:ext cx="6457950" cy="590550"/>
          </a:xfrm>
          <a:prstGeom prst="rect">
            <a:avLst/>
          </a:prstGeom>
          <a:solidFill>
            <a:srgbClr val="FFFFFF">
              <a:alpha val="4500"/>
            </a:srgbClr>
          </a:solidFill>
          <a:ln/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5124450" y="4933950"/>
            <a:ext cx="6486525" cy="590550"/>
          </a:xfrm>
          <a:custGeom>
            <a:pathLst>
              <a:path w="681" h="62">
                <a:moveTo>
                  <a:pt x="0" y="0"/>
                </a:moveTo>
                <a:lnTo>
                  <a:pt x="3" y="0"/>
                </a:lnTo>
                <a:lnTo>
                  <a:pt x="3" y="62"/>
                </a:lnTo>
                <a:lnTo>
                  <a:pt x="0" y="62"/>
                </a:lnTo>
                <a:close/>
              </a:path>
            </a:pathLst>
          </a:custGeom>
          <a:solidFill>
            <a:srgbClr val="7ED6F5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5343525" y="5086350"/>
            <a:ext cx="604837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FFFFFF">
                    <a:alpha val="75000"/>
                  </a:srgbClr>
                </a:solidFill>
                <a:latin typeface="PingFang SC"/>
                <a:ea typeface="PingFang SC"/>
              </a:rPr>
              <a:t>判断：解析器与执行器的重写，让仿真从</a:t>
            </a:r>
            <a:r>
              <a:rPr lang="en-US" sz="1125">
                <a:solidFill>
                  <a:srgbClr val="FFFFFF">
                    <a:alpha val="75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125">
                <a:solidFill>
                  <a:srgbClr val="FFFFFF">
                    <a:alpha val="75000"/>
                  </a:srgbClr>
                </a:solidFill>
                <a:latin typeface="PingFang SC"/>
                <a:ea typeface="PingFang SC"/>
              </a:rPr>
              <a:t>读一条动一下</a:t>
            </a:r>
            <a:r>
              <a:rPr lang="en-US" sz="1125">
                <a:solidFill>
                  <a:srgbClr val="FFFFFF">
                    <a:alpha val="75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125">
                <a:solidFill>
                  <a:srgbClr val="FFFFFF">
                    <a:alpha val="75000"/>
                  </a:srgbClr>
                </a:solidFill>
                <a:latin typeface="PingFang SC"/>
                <a:ea typeface="PingFang SC"/>
              </a:rPr>
              <a:t>升级为可表达真实程序结构的解释器。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VEX V5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编程教学仿真</a:t>
            </a: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工程日志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11918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Helvetica Neue"/>
                <a:ea typeface="Helvetica Neue"/>
              </a:rPr>
              <a:t>07 / 13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354" name="" descr="&lt;Slide style={{ width: '1280px', height: '720px', padding: 0, background: '#0A0E16' }}&gt;&#10;  &lt;Box style={{ height: '100%', padding: '30px 64px 20px', justifyContent: 'space-between' }}&gt;&#10;    &lt;Box style={{ flexDirection: 'row', alignItems: 'center', gap: 16, height: 74 }}&gt;&#10;      &lt;Box style={{ width: 4, height: 34, background: '#FFD94D' }} /&gt;&#10;      &lt;Box&gt;&#10;        &lt;Text style={{ fontSize: 34, fontWeight: 'bold', color: '#FFFFFF', letterSpacing: '.02em', fontFamily: 'PingFang SC' }}&gt;训练模式：Practice &amp; merit&lt;/Text&gt;&#10;        &lt;Text style={{ fontSize: 14, color: 'rgba(255,255,255,.45)', letterSpacing: '.2em', fontFamily: 'Helvetica Neue', marginTop: 2 }}&gt;关卡一 · 前进后退转向 · 09.04&lt;/Text&gt;&#10;      &lt;/Box&gt;&#10;    &lt;/Box&gt;&#10;    {/* B 上部：左要点 右结算 */}&#10;    &lt;Box style={{ flex: 1, flexDirection: 'row', gap: 30, minHeight: 0, alignItems: 'stretch' }}&gt;&#10;      &lt;Box style={{ width: '58%', flexDirection: 'column', justifyContent: 'center', gap: 14 }}&gt;&#10;        {[&#10;          ['随机终点旗帜', '任务模板无示例代码，学生独立编写；旗帜随机落点，完成一次才刷新下一程。'],&#10;          ['碰撞即到达', '机器与旗帜距离小于 0.8 ft 判定到达；球隐藏，目标聚焦&quot;走到旗&quot;。'],&#10;          ['自动复位闭环', '到达终点先静默停程序，再自动复位回起点 —— 未完成则需手动复位，区分两种收尾。'],&#10;        ].map((it, i) =&gt; (&#10;          &lt;Box key={i} style={{ flexDirection: 'row', gap: 16, alignItems: 'flex-start' }}&gt;&#10;            &lt;Box style={{ width: 6, height: 6, borderRadius: 3, background: '#7ED6F5', marginTop: 9 }} /&gt;&#10;            &lt;Box style={{ flex: 1 }}&gt;&#10;              &lt;Text style={{ fontSize: 19, fontWeight: 'bold', color: '#FFFFFF', fontFamily: 'PingFang SC' }}&gt;{it[0]}&lt;/Text&gt;&#10;              &lt;Text style={{ fontSize: 15, color: 'rgba(255,255,255,.6)', lineHeight: 1.65, fontFamily: 'PingFang SC', marginTop: 3 }}&gt;{it[1]}&lt;/Text&gt;&#10;            &lt;/Box&gt;&#10;          &lt;/Box&gt;&#10;        ))}&#10;      &lt;/Box&gt;&#10;      {/* 结算场景 */}&#10;      &lt;Box style={{ width: '42%', background: 'rgba(255,255,255,.045)', border: '1px solid rgba(255,255,255,.09)', borderRadius: 6, padding: '24px 26px', justifyContent: 'center' }}&gt;&#10;        &lt;Text style={{ fontSize: 15, color: 'rgba(255,217,77,.9)', letterSpacing: '.24em', fontFamily: 'Helvetica Neue', marginBottom: 14 }}&gt;ON REACH&lt;/Text&gt;&#10;        &lt;Box style={{ flexDirection: 'row', alignItems: 'center', gap: 12 }}&gt;&#10;          &lt;Text style={{ fontSize: 26, fontWeight: 'bold', color: '#FFFFFF', fontFamily: 'PingFang SC' }}&gt;🎉Congrats！！&lt;/Text&gt;&#10;        &lt;/Box&gt;&#10;        &lt;Text style={{ fontSize: 21, fontWeight: 'bold', color: '#FFD94D', fontFamily: 'PingFang SC', marginTop: 6 }}&gt;+0.08 merits 🥇&lt;/Text&gt;&#10;        &lt;Box style={{ width: '100%', height: 1, background: 'rgba(255,255,255,.08)', margin: '18px 0' }} /&gt;&#10;        &lt;Text style={{ fontSize: 14.5, color: 'rgba(255,255,255,.62)', lineHeight: 1.7, fontFamily: 'PingFang SC' }}&gt;&#10;          彩虹渐变字 + 70 片彩带，播报全程清晰停留 3 秒后淡出；merit 徽章常驻顶栏，localStorage 持久化，第一关每次 +0.05~0.10 随机。&#10;        &lt;/Text&gt;&#10;      &lt;/Box&gt;&#10;    &lt;/Box&gt;&#10;    {/* B 下部：闭环节奏 */}&#10;    &lt;Box style={{ flexDirection: 'row', alignItems: 'center', marginTop: 24 }}&gt;&#10;      {['进入训练 Practice!', '空模板 · 编写代码', '运行 · 走向旗帜', '到达 · 自动复位', '刷新旗帜 · 再下一程'].map((t, i, arr) =&gt; (&#10;        &lt;Box key={i} style={{ flex: 1, flexDirection: 'row', alignItems: 'center' }}&gt;&#10;          &lt;Box style={{ flex: 1, alignItems: 'center', gap: 8, padding: '14px 6px', background: 'rgba(255,255,255,.04)', border: '1px solid rgba(255,255,255,.08)', borderRadius: 4 }}&gt;&#10;            &lt;Text style={{ fontSize: 13, color: i === 3 ? '#FFD94D' : '#7ED6F5', fontFamily: 'Menlo, monospace' }}&gt;{'STEP ' + (i + 1)}&lt;/Text&gt;&#10;            &lt;Text style={{ fontSize: 14.5, fontWeight: 'bold', color: '#FFFFFF', fontFamily: 'PingFang SC', textAlign: 'center' }}&gt;{t}&lt;/Text&gt;&#10;          &lt;/Box&gt;&#10;          {i &lt; arr.length - 1 ? &lt;Text style={{ fontSize: 18, color: 'rgba(255,255,255,.3)', fontFamily: 'Helvetica Neue', padding: '0 4px' }}&gt;›&lt;/Text&gt; : null}&#10;        &lt;/Box&gt;&#10;      ))}&#10;    &lt;/Box&gt;&#10;    {/* C 页脚 */}&#10;    &lt;Box style={{ height: 32, flexDirection: 'row', alignItems: 'center', justifyContent: 'space-between' }}&gt;&#10;      &lt;Text style={{ fontSize: 13, color: 'rgba(255,255,255,.38)', letterSpacing: '.14em', fontFamily: 'PingFang SC' }}&gt;VEX V5 编程教学仿真 · 工程日志&lt;/Text&gt;&#10;      &lt;Text style={{ fontSize: 13, color: 'rgba(255,255,255,.38)', fontFamily: 'Helvetica Neue', letterSpacing: '.06em' }}&gt;08 / 13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16"/>
          </a:soli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609600" y="476250"/>
            <a:ext cx="38100" cy="323850"/>
          </a:xfrm>
          <a:prstGeom prst="rect">
            <a:avLst/>
          </a:prstGeom>
          <a:solidFill>
            <a:srgbClr val="FFD94D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00100" y="352425"/>
            <a:ext cx="4152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训练模式：</a:t>
            </a:r>
            <a:r>
              <a:rPr lang="en-US" sz="2550" b="1">
                <a:solidFill>
                  <a:srgbClr val="FFFFFF"/>
                </a:solidFill>
                <a:latin typeface="PingFang SC"/>
                <a:ea typeface="PingFang SC"/>
              </a:rPr>
              <a:t>Practice &amp; merit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00100" y="762000"/>
            <a:ext cx="415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关卡一</a:t>
            </a: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 · </a:t>
            </a:r>
            <a:r>
              <a:rPr lang="zh-CN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前进后退转向</a:t>
            </a: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 · 09.04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09600" y="2381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7ED6F5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819150" y="2295525"/>
            <a:ext cx="5991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随机终点旗帜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819150" y="2543175"/>
            <a:ext cx="59912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任务模板无示例代码，学生独立编写；旗帜随机落点，完成一次才刷新下一程。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609600" y="30480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7ED6F5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19150" y="2962275"/>
            <a:ext cx="5991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碰撞即到达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19150" y="3209925"/>
            <a:ext cx="59912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机器与旗帜距离小于</a:t>
            </a:r>
            <a:r>
              <a:rPr lang="en-US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0.8 ft 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判定到达；球隐藏，目标聚焦</a:t>
            </a:r>
            <a:r>
              <a:rPr lang="en-US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走到旗</a:t>
            </a:r>
            <a:r>
              <a:rPr lang="en-US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609600" y="37147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7ED6F5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19150" y="3629025"/>
            <a:ext cx="5991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自动复位闭环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19150" y="3876675"/>
            <a:ext cx="59912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到达终点先静默停程序，再自动复位回起点</a:t>
            </a:r>
            <a:r>
              <a:rPr lang="en-US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未完成则需手动复位，区分两种收尾。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7096125" y="990600"/>
            <a:ext cx="4486275" cy="4476750"/>
          </a:xfrm>
          <a:prstGeom prst="roundRect">
            <a:avLst>
              <a:gd name="adj" fmla="val 1277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7343775" y="2171700"/>
            <a:ext cx="3990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D94D">
                    <a:alpha val="90000"/>
                  </a:srgbClr>
                </a:solidFill>
                <a:latin typeface="Helvetica Neue"/>
                <a:ea typeface="Helvetica Neue"/>
              </a:rPr>
              <a:t>ON REACH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7343775" y="2476500"/>
            <a:ext cx="1828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PingFang SC"/>
                <a:ea typeface="PingFang SC"/>
              </a:rPr>
              <a:t>🎉Congrats</a:t>
            </a:r>
            <a:r>
              <a:rPr lang="zh-CN" sz="1950" b="1">
                <a:solidFill>
                  <a:srgbClr val="FFFFFF"/>
                </a:solidFill>
                <a:latin typeface="PingFang SC"/>
                <a:ea typeface="PingFang SC"/>
              </a:rPr>
              <a:t>！！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7343775" y="2838450"/>
            <a:ext cx="3990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FFD94D"/>
                </a:solidFill>
                <a:latin typeface="PingFang SC"/>
                <a:ea typeface="PingFang SC"/>
              </a:rPr>
              <a:t>+0.08 merits 🥇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7343775" y="3257550"/>
            <a:ext cx="39909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343775" y="3438525"/>
            <a:ext cx="3990975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彩虹渐变字</a:t>
            </a:r>
            <a:r>
              <a:rPr lang="en-US" sz="1088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+ 70 </a:t>
            </a:r>
            <a:r>
              <a:rPr lang="zh-CN" sz="1088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片彩带，播报全程清晰停留</a:t>
            </a:r>
            <a:r>
              <a:rPr lang="en-US" sz="1088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3 </a:t>
            </a:r>
            <a:r>
              <a:rPr lang="zh-CN" sz="1088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秒后淡出；</a:t>
            </a:r>
            <a:r>
              <a:rPr lang="en-US" sz="1088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merit </a:t>
            </a:r>
            <a:r>
              <a:rPr lang="zh-CN" sz="1088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徽章常驻顶栏，</a:t>
            </a:r>
            <a:r>
              <a:rPr lang="en-US" sz="1088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localStorage </a:t>
            </a:r>
            <a:r>
              <a:rPr lang="zh-CN" sz="1088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持久化，第一关每次</a:t>
            </a:r>
            <a:r>
              <a:rPr lang="en-US" sz="1088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+0.05~0.10 </a:t>
            </a:r>
            <a:r>
              <a:rPr lang="zh-CN" sz="1088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随机。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09600" y="5695950"/>
            <a:ext cx="2066925" cy="66675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419225" y="582930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ED6F5"/>
                </a:solidFill>
                <a:latin typeface="Menlo"/>
                <a:ea typeface="Menlo"/>
              </a:rPr>
              <a:t>STEP 1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047750" y="6057900"/>
            <a:ext cx="11906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PingFang SC"/>
                <a:ea typeface="PingFang SC"/>
              </a:rPr>
              <a:t>进入训练</a:t>
            </a:r>
            <a:r>
              <a:rPr lang="en-US" sz="1088" b="1">
                <a:solidFill>
                  <a:srgbClr val="FFFFFF"/>
                </a:solidFill>
                <a:latin typeface="PingFang SC"/>
                <a:ea typeface="PingFang SC"/>
              </a:rPr>
              <a:t> Practice!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2676525" y="5924550"/>
            <a:ext cx="123825" cy="209550"/>
          </a:xfrm>
          <a:prstGeom prst="rect"/>
        </p:spPr>
        <p:txBody>
          <a:bodyPr wrap="none" lIns="28575" tIns="0" rIns="28575" bIns="0"/>
          <a:p>
            <a:pPr>
              <a:lnSpc>
                <a:spcPct val="100000"/>
              </a:lnSpc>
            </a:pPr>
            <a:r>
              <a:rPr sz="1350">
                <a:solidFill>
                  <a:srgbClr val="FFFFFF">
                    <a:alpha val="30000"/>
                  </a:srgbClr>
                </a:solidFill>
                <a:latin typeface="Helvetica Neue"/>
                <a:ea typeface="Helvetica Neue"/>
              </a:rPr>
              <a:t>›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2800350" y="5695950"/>
            <a:ext cx="2076450" cy="66675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3619500" y="582930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ED6F5"/>
                </a:solidFill>
                <a:latin typeface="Menlo"/>
                <a:ea typeface="Menlo"/>
              </a:rPr>
              <a:t>STEP 2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3276600" y="6057900"/>
            <a:ext cx="113347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PingFang SC"/>
                <a:ea typeface="PingFang SC"/>
              </a:rPr>
              <a:t>空模板</a:t>
            </a:r>
            <a:r>
              <a:rPr lang="en-US" sz="1088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088" b="1">
                <a:solidFill>
                  <a:srgbClr val="FFFFFF"/>
                </a:solidFill>
                <a:latin typeface="PingFang SC"/>
                <a:ea typeface="PingFang SC"/>
              </a:rPr>
              <a:t>编写代码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876800" y="5924550"/>
            <a:ext cx="123825" cy="209550"/>
          </a:xfrm>
          <a:prstGeom prst="rect"/>
        </p:spPr>
        <p:txBody>
          <a:bodyPr wrap="none" lIns="28575" tIns="0" rIns="28575" bIns="0"/>
          <a:p>
            <a:pPr>
              <a:lnSpc>
                <a:spcPct val="100000"/>
              </a:lnSpc>
            </a:pPr>
            <a:r>
              <a:rPr sz="1350">
                <a:solidFill>
                  <a:srgbClr val="FFFFFF">
                    <a:alpha val="30000"/>
                  </a:srgbClr>
                </a:solidFill>
                <a:latin typeface="Helvetica Neue"/>
                <a:ea typeface="Helvetica Neue"/>
              </a:rPr>
              <a:t>›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5000625" y="5695950"/>
            <a:ext cx="2066925" cy="66675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5810250" y="582930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ED6F5"/>
                </a:solidFill>
                <a:latin typeface="Menlo"/>
                <a:ea typeface="Menlo"/>
              </a:rPr>
              <a:t>STEP 3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543550" y="6057900"/>
            <a:ext cx="9906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PingFang SC"/>
                <a:ea typeface="PingFang SC"/>
              </a:rPr>
              <a:t>运行</a:t>
            </a:r>
            <a:r>
              <a:rPr lang="en-US" sz="1088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088" b="1">
                <a:solidFill>
                  <a:srgbClr val="FFFFFF"/>
                </a:solidFill>
                <a:latin typeface="PingFang SC"/>
                <a:ea typeface="PingFang SC"/>
              </a:rPr>
              <a:t>走向旗帜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067550" y="5924550"/>
            <a:ext cx="123825" cy="209550"/>
          </a:xfrm>
          <a:prstGeom prst="rect"/>
        </p:spPr>
        <p:txBody>
          <a:bodyPr wrap="none" lIns="28575" tIns="0" rIns="28575" bIns="0"/>
          <a:p>
            <a:pPr>
              <a:lnSpc>
                <a:spcPct val="100000"/>
              </a:lnSpc>
            </a:pPr>
            <a:r>
              <a:rPr sz="1350">
                <a:solidFill>
                  <a:srgbClr val="FFFFFF">
                    <a:alpha val="30000"/>
                  </a:srgbClr>
                </a:solidFill>
                <a:latin typeface="Helvetica Neue"/>
                <a:ea typeface="Helvetica Neue"/>
              </a:rPr>
              <a:t>›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7191375" y="5695950"/>
            <a:ext cx="2076450" cy="66675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010525" y="582930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D94D"/>
                </a:solidFill>
                <a:latin typeface="Menlo"/>
                <a:ea typeface="Menlo"/>
              </a:rPr>
              <a:t>STEP 4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734300" y="6057900"/>
            <a:ext cx="9906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PingFang SC"/>
                <a:ea typeface="PingFang SC"/>
              </a:rPr>
              <a:t>到达</a:t>
            </a:r>
            <a:r>
              <a:rPr lang="en-US" sz="1088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088" b="1">
                <a:solidFill>
                  <a:srgbClr val="FFFFFF"/>
                </a:solidFill>
                <a:latin typeface="PingFang SC"/>
                <a:ea typeface="PingFang SC"/>
              </a:rPr>
              <a:t>自动复位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9267825" y="5924550"/>
            <a:ext cx="123825" cy="209550"/>
          </a:xfrm>
          <a:prstGeom prst="rect"/>
        </p:spPr>
        <p:txBody>
          <a:bodyPr wrap="none" lIns="28575" tIns="0" rIns="28575" bIns="0"/>
          <a:p>
            <a:pPr>
              <a:lnSpc>
                <a:spcPct val="100000"/>
              </a:lnSpc>
            </a:pPr>
            <a:r>
              <a:rPr sz="1350">
                <a:solidFill>
                  <a:srgbClr val="FFFFFF">
                    <a:alpha val="30000"/>
                  </a:srgbClr>
                </a:solidFill>
                <a:latin typeface="Helvetica Neue"/>
                <a:ea typeface="Helvetica Neue"/>
              </a:rPr>
              <a:t>›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9391650" y="5695950"/>
            <a:ext cx="2190750" cy="666750"/>
          </a:xfrm>
          <a:prstGeom prst="roundRect">
            <a:avLst>
              <a:gd name="adj" fmla="val 571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0267950" y="5829300"/>
            <a:ext cx="447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7ED6F5"/>
                </a:solidFill>
                <a:latin typeface="Menlo"/>
                <a:ea typeface="Menlo"/>
              </a:rPr>
              <a:t>STEP 5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9858375" y="6057900"/>
            <a:ext cx="12668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PingFang SC"/>
                <a:ea typeface="PingFang SC"/>
              </a:rPr>
              <a:t>刷新旗帜</a:t>
            </a:r>
            <a:r>
              <a:rPr lang="en-US" sz="1088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088" b="1">
                <a:solidFill>
                  <a:srgbClr val="FFFFFF"/>
                </a:solidFill>
                <a:latin typeface="PingFang SC"/>
                <a:ea typeface="PingFang SC"/>
              </a:rPr>
              <a:t>再下一程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VEX V5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编程教学仿真</a:t>
            </a: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工程日志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111918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Helvetica Neue"/>
                <a:ea typeface="Helvetica Neue"/>
              </a:rPr>
              <a:t>08 / 13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395" name="" descr="&lt;Slide style={{ width: '1280px', height: '720px', padding: 0, background: '#0A0E16' }}&gt;&#10;  &lt;Box style={{ height: '100%', padding: '30px 64px 20px', justifyContent: 'space-between' }}&gt;&#10;    &lt;Box style={{ flexDirection: 'row', alignItems: 'center', gap: 16, height: 74 }}&gt;&#10;      &lt;Box style={{ width: 4, height: 34, background: '#7ED6F5' }} /&gt;&#10;      &lt;Box&gt;&#10;        &lt;Text style={{ fontSize: 34, fontWeight: 'bold', color: '#FFFFFF', letterSpacing: '.02em', fontFamily: 'PingFang SC' }}&gt;收口：做减法，回归极简&lt;/Text&gt;&#10;        &lt;Text style={{ fontSize: 14, color: 'rgba(255,255,255,.45)', letterSpacing: '.2em', fontFamily: 'Helvetica Neue', marginTop: 2 }}&gt;教学化精简 · 09.05 — 09.06&lt;/Text&gt;&#10;      &lt;/Box&gt;&#10;    &lt;/Box&gt;&#10;    {/* 左 55 */}&#10;    &lt;Box style={{ position: 'absolute', left: 64, top: 140, bottom: 74, width: '40%', flexDirection: 'column', justifyContent: 'center', gap: 2 }}&gt;&#10;      {[&#10;        ['删除 · 示例 / 编译', '按钮与逻辑移除，编辑器默认空模板；运行前自动做静态检查，错误即提示。'],&#10;        ['改造 · 关卡选择', '原生 select → 自定义下拉：按钮只显示关卡数，点开展开完整选项；「训练」按钮支持 toggle 进出。'],&#10;        ['迁移 · 状态反馈', '删除场景提示与中间状态栏；右下滚动日志承担运行状态，以彩色字滚入（运行蓝 / 完成绿 / 停止橙）。'],&#10;        ['重组 · 顶栏布局', '关卡 / 训练 / 保存收敛到顶栏中央（hb-center）；右上只留 运行 / 停止 / 复位。'],&#10;      ].map((it, i) =&gt; (&#10;        &lt;Box key={i} style={{ flexDirection: 'row', gap: 16, padding: '15px 0', borderTop: i === 0 ? 'none' : '1px solid rgba(255,255,255,.06)' }}&gt;&#10;          &lt;Text style={{ fontSize: 15, color: '#FFD94D', fontFamily: 'Menlo, monospace', paddingTop: 3 }}&gt;0{i + 1}&lt;/Text&gt;&#10;          &lt;Box style={{ flex: 1 }}&gt;&#10;            &lt;Text style={{ fontSize: 18, fontWeight: 'bold', color: '#FFFFFF', fontFamily: 'PingFang SC' }}&gt;{it[0]}&lt;/Text&gt;&#10;            &lt;Text style={{ fontSize: 14.5, color: 'rgba(255,255,255,.6)', lineHeight: 1.6, fontFamily: 'PingFang SC', marginTop: 4 }}&gt;{it[1]}&lt;/Text&gt;&#10;          &lt;/Box&gt;&#10;        &lt;/Box&gt;&#10;      ))}&#10;    &lt;/Box&gt;&#10;    {/* 右 45：Enter 美学演进 */}&#10;    &lt;Box style={{ position: 'absolute', right: 64, top: 140, bottom: 74, left: '56%', flexDirection: 'column', justifyContent: 'center' }}&gt;&#10;      &lt;Box style={{ background: 'rgba(255,255,255,.045)', border: '1px solid rgba(255,255,255,.09)', borderRadius: 6, padding: '24px 26px' }}&gt;&#10;        &lt;Text style={{ fontSize: 15, color: 'rgba(126,214,245,.85)', letterSpacing: '.24em', fontFamily: 'Helvetica Neue', marginBottom: 12 }}&gt;ENTER · AESTHETICS&lt;/Text&gt;&#10;        {[&#10;          ['01', '矩形卡片', '右侧独立卡片 + 横线突出'],&#10;          ['02', '梯形挡板', 'clip-path 斜边从屏顶贯穿屏底，E 左上角压线'],&#10;          ['03', '模糊收敛', 'blur 14px → 4px，背景通透不糊墙'],&#10;          ['04', '字距拉开', 'letter-spacing .26em → .46em，字距即气质'],&#10;        ].map((it, i) =&gt; (&#10;          &lt;Box key={i} style={{ flexDirection: 'row', alignItems: 'baseline', gap: 14, padding: '8px 0', borderTop: i === 0 ? 'none' : '1px solid rgba(255,255,255,.05)' }}&gt;&#10;            &lt;Text style={{ fontSize: 13, color: 'rgba(255,255,255,.35)', fontFamily: 'Menlo, monospace' }}&gt;{it[0]}&lt;/Text&gt;&#10;            &lt;Text style={{ width: 88, fontSize: 16, fontWeight: 'bold', color: '#FFFFFF', fontFamily: 'PingFang SC' }}&gt;{it[1]}&lt;/Text&gt;&#10;            &lt;Text style={{ flex: 1, fontSize: 13.5, color: 'rgba(255,255,255,.55)', lineHeight: 1.5, textAlign: 'right', fontFamily: 'PingFang SC' }}&gt;{it[2]}&lt;/Text&gt;&#10;          &lt;/Box&gt;&#10;        ))}&#10;      &lt;/Box&gt;&#10;      &lt;Box style={{ marginTop: 16, padding: '16px 20px', background: 'rgba(255,255,255,.04)', borderLeft: '3px solid #FFD94D' }}&gt;&#10;        &lt;Text style={{ fontSize: 15, color: 'rgba(255,255,255,.75)', lineHeight: 1.65, fontFamily: 'PingFang SC' }}&gt;判断：功能越少，剩下每个元素越需要被设计 —— 减法之后，挡板角度与字距成了界面气质本身。&lt;/Text&gt;&#10;      &lt;/Box&gt;&#10;    &lt;/Box&gt;&#10;    {/* C 页脚 */}&#10;    &lt;Box style={{ position: 'absolute', left: 64, right: 64, bottom: 20, height: 32, flexDirection: 'row', alignItems: 'center', justifyContent: 'space-between' }}&gt;&#10;      &lt;Text style={{ fontSize: 13, color: 'rgba(255,255,255,.38)', letterSpacing: '.14em', fontFamily: 'PingFang SC' }}&gt;VEX V5 编程教学仿真 · 工程日志&lt;/Text&gt;&#10;      &lt;Text style={{ fontSize: 13, color: 'rgba(255,255,255,.38)', fontFamily: 'Helvetica Neue', letterSpacing: '.06em' }}&gt;09 / 13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16"/>
          </a:soli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609600" y="476250"/>
            <a:ext cx="38100" cy="323850"/>
          </a:xfrm>
          <a:prstGeom prst="rect">
            <a:avLst/>
          </a:prstGeom>
          <a:solidFill>
            <a:srgbClr val="7ED6F5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00100" y="352425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收口：做减法，回归极简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00100" y="762000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教学化精简</a:t>
            </a: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 · 09.05 — 09.06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09600" y="1847850"/>
            <a:ext cx="180975" cy="514350"/>
          </a:xfrm>
          <a:prstGeom prst="rect"/>
        </p:spPr>
        <p:txBody>
          <a:bodyPr wrap="none" lIns="0" tIns="21431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D94D"/>
                </a:solidFill>
                <a:latin typeface="Menlo"/>
                <a:ea typeface="Menlo"/>
              </a:rPr>
              <a:t>0</a:t>
            </a:r>
            <a:r>
              <a:rPr lang="en-US" sz="1125">
                <a:solidFill>
                  <a:srgbClr val="FFD94D"/>
                </a:solidFill>
                <a:latin typeface="Menlo"/>
                <a:ea typeface="Menlo"/>
              </a:rPr>
              <a:t>1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942975" y="1847850"/>
            <a:ext cx="4543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删除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示例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 /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编译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942975" y="2095500"/>
            <a:ext cx="45434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按钮与逻辑移除，编辑器默认空模板；运行前自动做静态检查，错误即提示。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609600" y="2524125"/>
            <a:ext cx="4876800" cy="1085850"/>
          </a:xfrm>
          <a:custGeom>
            <a:pathLst>
              <a:path w="512" h="114">
                <a:moveTo>
                  <a:pt x="0" y="0"/>
                </a:moveTo>
                <a:lnTo>
                  <a:pt x="512" y="0"/>
                </a:lnTo>
                <a:lnTo>
                  <a:pt x="51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09600" y="2676525"/>
            <a:ext cx="180975" cy="781050"/>
          </a:xfrm>
          <a:prstGeom prst="rect"/>
        </p:spPr>
        <p:txBody>
          <a:bodyPr wrap="none" lIns="0" tIns="21431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D94D"/>
                </a:solidFill>
                <a:latin typeface="Menlo"/>
                <a:ea typeface="Menlo"/>
              </a:rPr>
              <a:t>0</a:t>
            </a:r>
            <a:r>
              <a:rPr lang="en-US" sz="1125">
                <a:solidFill>
                  <a:srgbClr val="FFD94D"/>
                </a:solidFill>
                <a:latin typeface="Menlo"/>
                <a:ea typeface="Menlo"/>
              </a:rPr>
              <a:t>2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942975" y="2676525"/>
            <a:ext cx="4543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改造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关卡选择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942975" y="2924175"/>
            <a:ext cx="45434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原生</a:t>
            </a:r>
            <a:r>
              <a:rPr lang="en-US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select → </a:t>
            </a:r>
            <a:r>
              <a:rPr lang="zh-CN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自定义下拉：按钮只显示关卡数，点开展开完整选项；「训练」按钮支持</a:t>
            </a:r>
            <a:r>
              <a:rPr lang="en-US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toggle </a:t>
            </a:r>
            <a:r>
              <a:rPr lang="zh-CN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进出。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609600" y="3619500"/>
            <a:ext cx="4876800" cy="1085850"/>
          </a:xfrm>
          <a:custGeom>
            <a:pathLst>
              <a:path w="512" h="114">
                <a:moveTo>
                  <a:pt x="0" y="0"/>
                </a:moveTo>
                <a:lnTo>
                  <a:pt x="512" y="0"/>
                </a:lnTo>
                <a:lnTo>
                  <a:pt x="51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09600" y="3771900"/>
            <a:ext cx="180975" cy="781050"/>
          </a:xfrm>
          <a:prstGeom prst="rect"/>
        </p:spPr>
        <p:txBody>
          <a:bodyPr wrap="none" lIns="0" tIns="21431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D94D"/>
                </a:solidFill>
                <a:latin typeface="Menlo"/>
                <a:ea typeface="Menlo"/>
              </a:rPr>
              <a:t>0</a:t>
            </a:r>
            <a:r>
              <a:rPr lang="en-US" sz="1125">
                <a:solidFill>
                  <a:srgbClr val="FFD94D"/>
                </a:solidFill>
                <a:latin typeface="Menlo"/>
                <a:ea typeface="Menlo"/>
              </a:rPr>
              <a:t>3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942975" y="3771900"/>
            <a:ext cx="4543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迁移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状态反馈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942975" y="4019550"/>
            <a:ext cx="45434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删除场景提示与中间状态栏；右下滚动日志承担运行状态，以彩色字滚入（运行蓝</a:t>
            </a:r>
            <a:r>
              <a:rPr lang="en-US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完成绿</a:t>
            </a:r>
            <a:r>
              <a:rPr lang="en-US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停止橙）。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09600" y="4714875"/>
            <a:ext cx="4876800" cy="1085850"/>
          </a:xfrm>
          <a:custGeom>
            <a:pathLst>
              <a:path w="512" h="114">
                <a:moveTo>
                  <a:pt x="0" y="0"/>
                </a:moveTo>
                <a:lnTo>
                  <a:pt x="512" y="0"/>
                </a:lnTo>
                <a:lnTo>
                  <a:pt x="51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09600" y="4867275"/>
            <a:ext cx="180975" cy="781050"/>
          </a:xfrm>
          <a:prstGeom prst="rect"/>
        </p:spPr>
        <p:txBody>
          <a:bodyPr wrap="none" lIns="0" tIns="21431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D94D"/>
                </a:solidFill>
                <a:latin typeface="Menlo"/>
                <a:ea typeface="Menlo"/>
              </a:rPr>
              <a:t>0</a:t>
            </a:r>
            <a:r>
              <a:rPr lang="en-US" sz="1125">
                <a:solidFill>
                  <a:srgbClr val="FFD94D"/>
                </a:solidFill>
                <a:latin typeface="Menlo"/>
                <a:ea typeface="Menlo"/>
              </a:rPr>
              <a:t>4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942975" y="4867275"/>
            <a:ext cx="4543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重组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顶栏布局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942975" y="5114925"/>
            <a:ext cx="45434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关卡</a:t>
            </a:r>
            <a:r>
              <a:rPr lang="en-US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训练</a:t>
            </a:r>
            <a:r>
              <a:rPr lang="en-US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保存收敛到顶栏中央（</a:t>
            </a:r>
            <a:r>
              <a:rPr lang="en-US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hb-center</a:t>
            </a:r>
            <a:r>
              <a:rPr lang="zh-CN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）；右上只留</a:t>
            </a:r>
            <a:r>
              <a:rPr lang="en-US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</a:t>
            </a:r>
            <a:r>
              <a:rPr lang="zh-CN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运行</a:t>
            </a:r>
            <a:r>
              <a:rPr lang="en-US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停止</a:t>
            </a:r>
            <a:r>
              <a:rPr lang="en-US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088">
                <a:solidFill>
                  <a:srgbClr val="FFFFFF">
                    <a:alpha val="60000"/>
                  </a:srgbClr>
                </a:solidFill>
                <a:latin typeface="PingFang SC"/>
                <a:ea typeface="PingFang SC"/>
              </a:rPr>
              <a:t>复位。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829425" y="2066925"/>
            <a:ext cx="4752975" cy="2333625"/>
          </a:xfrm>
          <a:prstGeom prst="roundRect">
            <a:avLst>
              <a:gd name="adj" fmla="val 2449"/>
            </a:avLst>
          </a:prstGeom>
          <a:solidFill>
            <a:srgbClr val="FFFFFF">
              <a:alpha val="4500"/>
            </a:srgbClr>
          </a:solidFill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077075" y="2295525"/>
            <a:ext cx="425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ED6F5">
                    <a:alpha val="85000"/>
                  </a:srgbClr>
                </a:solidFill>
                <a:latin typeface="Helvetica Neue"/>
                <a:ea typeface="Helvetica Neue"/>
              </a:rPr>
              <a:t>ENTER · AESTHETICS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077075" y="2657475"/>
            <a:ext cx="1524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5000"/>
                  </a:srgbClr>
                </a:solidFill>
                <a:latin typeface="Menlo"/>
                <a:ea typeface="Menlo"/>
              </a:rPr>
              <a:t>01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362825" y="2657475"/>
            <a:ext cx="8382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矩形卡片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334375" y="2657475"/>
            <a:ext cx="3000375" cy="238125"/>
          </a:xfrm>
          <a:prstGeom prst="rect"/>
        </p:spPr>
        <p:txBody>
          <a:bodyPr wrap="none" lIns="0" tIns="0" rIns="0" bIns="0"/>
          <a:p>
            <a:pPr algn="r">
              <a:lnSpc>
                <a:spcPct val="150000"/>
              </a:lnSpc>
            </a:pPr>
            <a:r>
              <a:rPr lang="zh-CN" sz="1013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右侧独立卡片</a:t>
            </a:r>
            <a:r>
              <a:rPr lang="en-US" sz="1013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 + </a:t>
            </a:r>
            <a:r>
              <a:rPr lang="zh-CN" sz="1013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横线突出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7077075" y="2971800"/>
            <a:ext cx="4257675" cy="409575"/>
          </a:xfrm>
          <a:custGeom>
            <a:pathLst>
              <a:path w="447" h="43">
                <a:moveTo>
                  <a:pt x="0" y="0"/>
                </a:moveTo>
                <a:lnTo>
                  <a:pt x="447" y="0"/>
                </a:lnTo>
                <a:lnTo>
                  <a:pt x="447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7077075" y="3057525"/>
            <a:ext cx="1524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5000"/>
                  </a:srgbClr>
                </a:solidFill>
                <a:latin typeface="Menlo"/>
                <a:ea typeface="Menlo"/>
              </a:rPr>
              <a:t>02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7362825" y="3057525"/>
            <a:ext cx="8382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梯形挡板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334375" y="3057525"/>
            <a:ext cx="3000375" cy="238125"/>
          </a:xfrm>
          <a:prstGeom prst="rect"/>
        </p:spPr>
        <p:txBody>
          <a:bodyPr wrap="none" lIns="0" tIns="0" rIns="0" bIns="0"/>
          <a:p>
            <a:pPr algn="r">
              <a:lnSpc>
                <a:spcPct val="150000"/>
              </a:lnSpc>
            </a:pPr>
            <a:r>
              <a:rPr lang="en-US" sz="1013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clip-path </a:t>
            </a:r>
            <a:r>
              <a:rPr lang="zh-CN" sz="1013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斜边从屏顶贯穿屏底，</a:t>
            </a:r>
            <a:r>
              <a:rPr lang="en-US" sz="1013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E </a:t>
            </a:r>
            <a:r>
              <a:rPr lang="zh-CN" sz="1013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左上角压线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7077075" y="3371850"/>
            <a:ext cx="4257675" cy="409575"/>
          </a:xfrm>
          <a:custGeom>
            <a:pathLst>
              <a:path w="447" h="43">
                <a:moveTo>
                  <a:pt x="0" y="0"/>
                </a:moveTo>
                <a:lnTo>
                  <a:pt x="447" y="0"/>
                </a:lnTo>
                <a:lnTo>
                  <a:pt x="447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7077075" y="3457575"/>
            <a:ext cx="1524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5000"/>
                  </a:srgbClr>
                </a:solidFill>
                <a:latin typeface="Menlo"/>
                <a:ea typeface="Menlo"/>
              </a:rPr>
              <a:t>03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362825" y="3457575"/>
            <a:ext cx="8382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模糊收敛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8334375" y="3457575"/>
            <a:ext cx="3000375" cy="238125"/>
          </a:xfrm>
          <a:prstGeom prst="rect"/>
        </p:spPr>
        <p:txBody>
          <a:bodyPr wrap="none" lIns="0" tIns="0" rIns="0" bIns="0"/>
          <a:p>
            <a:pPr algn="r">
              <a:lnSpc>
                <a:spcPct val="150000"/>
              </a:lnSpc>
            </a:pPr>
            <a:r>
              <a:rPr lang="en-US" sz="1013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blur 14px → 4px</a:t>
            </a:r>
            <a:r>
              <a:rPr lang="zh-CN" sz="1013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，背景通透不糊墙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7077075" y="3771900"/>
            <a:ext cx="4257675" cy="409575"/>
          </a:xfrm>
          <a:custGeom>
            <a:pathLst>
              <a:path w="447" h="43">
                <a:moveTo>
                  <a:pt x="0" y="0"/>
                </a:moveTo>
                <a:lnTo>
                  <a:pt x="447" y="0"/>
                </a:lnTo>
                <a:lnTo>
                  <a:pt x="447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5000"/>
            </a:srgbClr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7077075" y="3857625"/>
            <a:ext cx="1524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5000"/>
                  </a:srgbClr>
                </a:solidFill>
                <a:latin typeface="Menlo"/>
                <a:ea typeface="Menlo"/>
              </a:rPr>
              <a:t>04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362825" y="3857625"/>
            <a:ext cx="8382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字距拉开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334375" y="3857625"/>
            <a:ext cx="3000375" cy="238125"/>
          </a:xfrm>
          <a:prstGeom prst="rect"/>
        </p:spPr>
        <p:txBody>
          <a:bodyPr wrap="none" lIns="0" tIns="0" rIns="0" bIns="0"/>
          <a:p>
            <a:pPr algn="r">
              <a:lnSpc>
                <a:spcPct val="150000"/>
              </a:lnSpc>
            </a:pPr>
            <a:r>
              <a:rPr lang="en-US" sz="1013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letter-spacing .26em → .46em</a:t>
            </a:r>
            <a:r>
              <a:rPr lang="zh-CN" sz="1013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，字距即气质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6858000" y="4552950"/>
            <a:ext cx="4752975" cy="8763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6829425" y="4552950"/>
            <a:ext cx="4781550" cy="876300"/>
          </a:xfrm>
          <a:custGeom>
            <a:pathLst>
              <a:path w="502" h="92">
                <a:moveTo>
                  <a:pt x="0" y="0"/>
                </a:moveTo>
                <a:lnTo>
                  <a:pt x="3" y="0"/>
                </a:lnTo>
                <a:lnTo>
                  <a:pt x="3" y="92"/>
                </a:lnTo>
                <a:lnTo>
                  <a:pt x="0" y="92"/>
                </a:lnTo>
                <a:close/>
              </a:path>
            </a:pathLst>
          </a:custGeom>
          <a:solidFill>
            <a:srgbClr val="FFD94D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7048500" y="4705350"/>
            <a:ext cx="4343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FFFFFF">
                    <a:alpha val="75000"/>
                  </a:srgbClr>
                </a:solidFill>
                <a:latin typeface="PingFang SC"/>
                <a:ea typeface="PingFang SC"/>
              </a:rPr>
              <a:t>判断：功能越少，剩下每个元素越需要被设计</a:t>
            </a:r>
            <a:r>
              <a:rPr lang="en-US" sz="1125">
                <a:solidFill>
                  <a:srgbClr val="FFFFFF">
                    <a:alpha val="75000"/>
                  </a:srgbClr>
                </a:solidFill>
                <a:latin typeface="PingFang SC"/>
                <a:ea typeface="PingFang SC"/>
              </a:rPr>
              <a:t> —— </a:t>
            </a:r>
            <a:r>
              <a:rPr lang="zh-CN" sz="1125">
                <a:solidFill>
                  <a:srgbClr val="FFFFFF">
                    <a:alpha val="75000"/>
                  </a:srgbClr>
                </a:solidFill>
                <a:latin typeface="PingFang SC"/>
                <a:ea typeface="PingFang SC"/>
              </a:rPr>
              <a:t>减法之后，挡板角度与字距成了界面气质本身。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VEX V5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编程教学仿真</a:t>
            </a: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工程日志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111918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Helvetica Neue"/>
                <a:ea typeface="Helvetica Neue"/>
              </a:rPr>
              <a:t>09 / 13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7" name="" descr="&lt;Slide style={{ width: '1280px', height: '720px', padding: 0, background: '#0A0E16' }}&gt;&#10;  &lt;Box style={{ position: 'absolute', top: -220, left: -140, width: 640, height: 640, borderRadius: 320, background: 'radial-gradient(circle, rgba(126,214,245,0.12) 0%, rgba(126,214,245,0) 62%)' }} /&gt;&#10;  &lt;Box style={{ height: '100%', padding: '30px 64px 20px', justifyContent: 'space-between', position: 'relative' }}&gt;&#10;    &lt;Box style={{ flexDirection: 'row', alignItems: 'center', gap: 16, height: 74 }}&gt;&#10;      &lt;Box style={{ width: 4, height: 34, background: '#FFD94D' }} /&gt;&#10;      &lt;Box&gt;&#10;        &lt;Text style={{ fontSize: 34, fontWeight: 'bold', color: '#FFFFFF', letterSpacing: '.02em', fontFamily: 'PingFang SC' }}&gt;决策精华：十二条问题排查&lt;/Text&gt;&#10;        &lt;Text style={{ fontSize: 14, color: 'rgba(255,255,255,.45)', letterSpacing: '.2em', fontFamily: 'Helvetica Neue', marginTop: 2 }}&gt;PATTERNS · LESSONS&lt;/Text&gt;&#10;      &lt;/Box&gt;&#10;    &lt;/Box&gt;&#10;    {/* B：左巨型数字 + 右 4 组 */}&#10;    &lt;Box style={{ flex: 1, flexDirection: 'row', gap: 44, minHeight: 0, alignItems: 'center' }}&gt;&#10;      &lt;Box style={{ width: 210, alignItems: 'flex-start' }}&gt;&#10;        &lt;Text style={{ fontSize: 150, fontWeight: 'bold', lineHeight: 1, color: '#FFD94D', fontFamily: 'Helvetica Neue', letterSpacing: '-.03em' }}&gt;12&lt;/Text&gt;&#10;        &lt;Text style={{ fontSize: 17, color: 'rgba(255,255,255,.55)', letterSpacing: '.16em', fontFamily: 'PingFang SC', marginTop: 8 }}&gt;条硬核结论&lt;/Text&gt;&#10;      &lt;/Box&gt;&#10;      &lt;Box style={{ flex: 1, flexDirection: 'column', gap: 14 }}&gt;&#10;        {[&#10;          ['编辑器性能', ['3D 无限渲染 = 打字延迟元凶 → render-on-demand', '防抖只留给检测，文字渲染必须即时', 'transform 滚动前提：元素高度 = 内容高度']],&#10;          ['代码解析', ['#include 检测走原始代码，注释先剥且保字符串', '命令只取 main 体、函数按遍历序展开', 'wait 单位一律先转 ms 再判断']],&#10;          ['3D 渲染', ['相机 = 机器人位置 + 球坐标偏移，距离恒定', '几何方向用 Node + three 实测，拒绝脑补', 'Float32Array 需手动扁平，防顶点全 NaN']],&#10;          ['网络部署', ['无 Range 网关用 Blob URL 绕开', '云端慢就海报 + LOADING 兜底', '改完代码必须重新部署才生效']],&#10;        ].map((g, i) =&gt; (&#10;          &lt;Box key={i} style={{ flexDirection: 'row', gap: 18, padding: '12px 0', borderTop: i === 0 ? 'none' : '1px solid rgba(255,255,255,.06)' }}&gt;&#10;            &lt;Text style={{ width: 74, fontSize: 16, fontWeight: 'bold', color: '#7ED6F5', fontFamily: 'PingFang SC', paddingTop: 1 }}&gt;{g[0]}&lt;/Text&gt;&#10;            &lt;Box style={{ flex: 1, gap: 4 }}&gt;&#10;              {g[1].map((t, j) =&gt; (&#10;                &lt;Text key={j} style={{ fontSize: 13.5, color: 'rgba(255,255,255,.62)', lineHeight: 1.55, fontFamily: 'PingFang SC' }}&gt;&#10;                  &lt;span style={{ color: 'rgba(126,214,245,.9)' }}&gt;·&lt;/span&gt;&amp;nbsp;{t}&#10;                &lt;/Text&gt;&#10;              ))}&#10;            &lt;/Box&gt;&#10;          &lt;/Box&gt;&#10;        ))}&#10;      &lt;/Box&gt;&#10;    &lt;/Box&gt;&#10;    {/* C 页脚 */}&#10;    &lt;Box style={{ height: 32, flexDirection: 'row', alignItems: 'center', justifyContent: 'space-between' }}&gt;&#10;      &lt;Text style={{ fontSize: 13, color: 'rgba(255,255,255,.38)', letterSpacing: '.14em', fontFamily: 'PingFang SC' }}&gt;VEX V5 编程教学仿真 · 工程日志&lt;/Text&gt;&#10;      &lt;Text style={{ fontSize: 13, color: 'rgba(255,255,255,.38)', fontFamily: 'Helvetica Neue', letterSpacing: '.06em' }}&gt;10 / 13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16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-1333500" y="-2095500"/>
            <a:ext cx="6096000" cy="6096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ED6F5">
                  <a:alpha val="12000"/>
                </a:srgbClr>
              </a:gs>
              <a:gs pos="62000">
                <a:srgbClr val="7ED6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609600" y="476250"/>
            <a:ext cx="38100" cy="323850"/>
          </a:xfrm>
          <a:prstGeom prst="rect">
            <a:avLst/>
          </a:prstGeom>
          <a:solidFill>
            <a:srgbClr val="FFD94D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00100" y="352425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决策精华：十二条问题排查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00100" y="762000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PATTERNS · LESSONS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09600" y="2686050"/>
            <a:ext cx="1590675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FD94D"/>
                </a:solidFill>
                <a:latin typeface="Helvetica Neue"/>
                <a:ea typeface="Helvetica Neue"/>
              </a:rPr>
              <a:t>12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9600" y="447675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条硬核结论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3028950" y="1485900"/>
            <a:ext cx="704850" cy="819150"/>
          </a:xfrm>
          <a:prstGeom prst="rect"/>
        </p:spPr>
        <p:txBody>
          <a:bodyPr wrap="square" lIns="0" tIns="7144" rIns="0" bIns="0">
            <a:normAutofit/>
          </a:bodyPr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7ED6F5"/>
                </a:solidFill>
                <a:latin typeface="PingFang SC"/>
                <a:ea typeface="PingFang SC"/>
              </a:rPr>
              <a:t>编辑器性能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905250" y="1485900"/>
            <a:ext cx="767715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sz="1013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·</a:t>
            </a:r>
            <a:r>
              <a:rPr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 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3D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无限渲染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=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打字延迟元凶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→ render-on-demand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3905250" y="1771650"/>
            <a:ext cx="767715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sz="1013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·</a:t>
            </a:r>
            <a:r>
              <a:rPr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 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防抖只留给检测，文字渲染必须即时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905250" y="2057400"/>
            <a:ext cx="767715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sz="1013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·</a:t>
            </a:r>
            <a:r>
              <a:rPr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 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transform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滚动前提：元素高度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=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内容高度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3028950" y="2552700"/>
            <a:ext cx="8553450" cy="1066800"/>
          </a:xfrm>
          <a:custGeom>
            <a:pathLst>
              <a:path w="898" h="112">
                <a:moveTo>
                  <a:pt x="0" y="0"/>
                </a:moveTo>
                <a:lnTo>
                  <a:pt x="898" y="0"/>
                </a:lnTo>
                <a:lnTo>
                  <a:pt x="89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028950" y="2676525"/>
            <a:ext cx="704850" cy="819150"/>
          </a:xfrm>
          <a:prstGeom prst="rect"/>
        </p:spPr>
        <p:txBody>
          <a:bodyPr wrap="none" lIns="0" tIns="7144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7ED6F5"/>
                </a:solidFill>
                <a:latin typeface="PingFang SC"/>
                <a:ea typeface="PingFang SC"/>
              </a:rPr>
              <a:t>代码解析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3905250" y="2676525"/>
            <a:ext cx="767715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sz="1013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·</a:t>
            </a:r>
            <a:r>
              <a:rPr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 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#include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检测走原始代码，注释先剥且保字符串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905250" y="2962275"/>
            <a:ext cx="767715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sz="1013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·</a:t>
            </a:r>
            <a:r>
              <a:rPr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 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命令只取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main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体、函数按遍历序展开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905250" y="3248025"/>
            <a:ext cx="767715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sz="1013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·</a:t>
            </a:r>
            <a:r>
              <a:rPr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 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wait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单位一律先转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ms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再判断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028950" y="3743325"/>
            <a:ext cx="8553450" cy="1066800"/>
          </a:xfrm>
          <a:custGeom>
            <a:pathLst>
              <a:path w="898" h="112">
                <a:moveTo>
                  <a:pt x="0" y="0"/>
                </a:moveTo>
                <a:lnTo>
                  <a:pt x="898" y="0"/>
                </a:lnTo>
                <a:lnTo>
                  <a:pt x="89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028950" y="3867150"/>
            <a:ext cx="704850" cy="819150"/>
          </a:xfrm>
          <a:prstGeom prst="rect"/>
        </p:spPr>
        <p:txBody>
          <a:bodyPr wrap="none" lIns="0" tIns="7144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7ED6F5"/>
                </a:solidFill>
                <a:latin typeface="PingFang SC"/>
                <a:ea typeface="PingFang SC"/>
              </a:rPr>
              <a:t>3D </a:t>
            </a:r>
            <a:r>
              <a:rPr lang="zh-CN" sz="1200" b="1">
                <a:solidFill>
                  <a:srgbClr val="7ED6F5"/>
                </a:solidFill>
                <a:latin typeface="PingFang SC"/>
                <a:ea typeface="PingFang SC"/>
              </a:rPr>
              <a:t>渲染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3905250" y="3867150"/>
            <a:ext cx="767715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sz="1013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·</a:t>
            </a:r>
            <a:r>
              <a:rPr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 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相机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=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机器人位置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+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球坐标偏移，距离恒定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905250" y="4152900"/>
            <a:ext cx="767715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sz="1013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·</a:t>
            </a:r>
            <a:r>
              <a:rPr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 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几何方向用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Node + three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实测，拒绝脑补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905250" y="4438650"/>
            <a:ext cx="767715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sz="1013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·</a:t>
            </a:r>
            <a:r>
              <a:rPr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 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Float32Array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需手动扁平，防顶点全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NaN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3028950" y="4933950"/>
            <a:ext cx="8553450" cy="1066800"/>
          </a:xfrm>
          <a:custGeom>
            <a:pathLst>
              <a:path w="898" h="112">
                <a:moveTo>
                  <a:pt x="0" y="0"/>
                </a:moveTo>
                <a:lnTo>
                  <a:pt x="898" y="0"/>
                </a:lnTo>
                <a:lnTo>
                  <a:pt x="89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028950" y="5057775"/>
            <a:ext cx="704850" cy="819150"/>
          </a:xfrm>
          <a:prstGeom prst="rect"/>
        </p:spPr>
        <p:txBody>
          <a:bodyPr wrap="none" lIns="0" tIns="7144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7ED6F5"/>
                </a:solidFill>
                <a:latin typeface="PingFang SC"/>
                <a:ea typeface="PingFang SC"/>
              </a:rPr>
              <a:t>网络部署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3905250" y="5057775"/>
            <a:ext cx="767715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sz="1013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·</a:t>
            </a:r>
            <a:r>
              <a:rPr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 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无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Range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网关用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Blob URL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绕开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905250" y="5343525"/>
            <a:ext cx="767715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sz="1013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·</a:t>
            </a:r>
            <a:r>
              <a:rPr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 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云端慢就海报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+ LOADING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兜底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905250" y="5629275"/>
            <a:ext cx="767715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sz="1013">
                <a:solidFill>
                  <a:srgbClr val="7ED6F5">
                    <a:alpha val="90000"/>
                  </a:srgbClr>
                </a:solidFill>
                <a:latin typeface="PingFang SC"/>
                <a:ea typeface="PingFang SC"/>
              </a:rPr>
              <a:t>·</a:t>
            </a:r>
            <a:r>
              <a:rPr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 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改完代码必须重新部署才生效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VEX V5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编程教学仿真</a:t>
            </a: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工程日志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1918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Helvetica Neue"/>
                <a:ea typeface="Helvetica Neue"/>
              </a:rPr>
              <a:t>10 / 13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46" name="" descr="&lt;Slide style={{ width: '1280px', height: '720px', padding: 0, background: '#0A0E16' }}&gt;&#10;  &lt;Box style={{ height: '100%', padding: '30px 64px 20px', justifyContent: 'space-between' }}&gt;&#10;    &lt;Box style={{ flexDirection: 'row', alignItems: 'center', gap: 16, height: 74 }}&gt;&#10;      &lt;Box style={{ width: 4, height: 34, background: '#7ED6F5' }} /&gt;&#10;      &lt;Box&gt;&#10;        &lt;Text style={{ fontSize: 34, fontWeight: 'bold', color: '#FFFFFF', letterSpacing: '.02em', fontFamily: 'PingFang SC' }}&gt;质量保障：可回归的分层&lt;/Text&gt;&#10;        &lt;Text style={{ fontSize: 14, color: 'rgba(255,255,255,.45)', letterSpacing: '.2em', fontFamily: 'Helvetica Neue', marginTop: 2 }}&gt;TESTING · QUALITY&lt;/Text&gt;&#10;      &lt;/Box&gt;&#10;    &lt;/Box&gt;&#10;    {/* B */}&#10;    &lt;Box style={{ flex: 1, flexDirection: 'row', gap: 40, minHeight: 0, alignItems: 'center' }}&gt;&#10;      &lt;Box style={{ width: '38%', flexDirection: 'column', justifyContent: 'center' }}&gt;&#10;        &lt;Box style={{ flexDirection: 'row', alignItems: 'flex-end', gap: 12 }}&gt;&#10;          &lt;Text style={{ fontSize: 120, fontWeight: 'bold', lineHeight: 1, color: '#7ED6F5', fontFamily: 'Helvetica Neue', letterSpacing: '-.02em' }}&gt;51&lt;/Text&gt;&#10;          &lt;Box style={{ flexDirection: 'column', gap: 2, paddingBottom: 10 }}&gt;&#10;            &lt;Text style={{ fontSize: 16, color: 'rgba(255,255,255,.85)', fontFamily: 'PingFang SC' }}&gt;双回归套件&lt;/Text&gt;&#10;            &lt;Text style={{ fontSize: 14, color: 'rgba(255,255,255,.5)', fontFamily: 'Helvetica Neue' }}&gt;31 SENSOR + 20 CONTROLFLOW&lt;/Text&gt;&#10;          &lt;/Box&gt;&#10;        &lt;/Box&gt;&#10;        &lt;Text style={{ fontSize: 15, color: 'rgba(255,255,255,.66)', lineHeight: 1.75, fontFamily: 'PingFang SC', marginTop: 22 }}&gt;&#10;          全部通过。开发期冒烟峰值 197 项；几何问题（爪穿模、世界坐标）用 Node + three.min.js 实测断言，而非目测。&#10;        &lt;/Text&gt;&#10;        &lt;Box style={{ marginTop: 18, padding: '14px 18px', background: 'rgba(255,255,255,.045)', borderLeft: '3px solid #7ED6F5' }}&gt;&#10;          &lt;Text style={{ fontSize: 14.5, color: 'rgba(255,255,255,.72)', lineHeight: 1.65, fontFamily: 'PingFang SC' }}&gt;判断：linter / sim 的纯函数分层 + vm + DOM mock，让三次引擎级重写（队列→执行栈）都做到了零回归。&lt;/Text&gt;&#10;        &lt;/Box&gt;&#10;      &lt;/Box&gt;&#10;      {/* 右表 */}&#10;      &lt;Box style={{ width: '62%', flexDirection: 'column' }}&gt;&#10;        &lt;Box style={{ flexDirection: 'row', padding: '12px 18px', background: 'rgba(126,214,245,.10)', borderRadius: 4 }}&gt;&#10;          {['套件', '文件', '覆盖', '结果'].map((h, i) =&gt; (&#10;            &lt;Text key={i} style={{ width: i === 0 ? 120 : i === 1 ? 240 : i === 2 ? 300 : 90, fontSize: 14, fontWeight: 'bold', color: '#7ED6F5', fontFamily: 'PingFang SC', letterSpacing: '.06em' }}&gt;{h}&lt;/Text&gt;&#10;          ))}&#10;        &lt;/Box&gt;&#10;        {[&#10;          ['传感器 / 回归', '.workbuddy/tests/test_sensor.js', 'linter · ai · sim 引擎 · DOM 冒烟', '31 / 31'],&#10;          ['控制流', '.workbuddy/tests/test_controlflow.js', 'if / else / while AST · 条件 · 循环', '20 / 20'],&#10;          ['几何验证', 'Node + three.min.js 脚本', '爪穿模 · 世界 AABB · 吸附距离', '实测通过'],&#10;          ['mock 经验', 'DOM mock 约定', 'closest / dataset / toggle(force) 预填', '复用'],&#10;        ].map((r, i) =&gt; (&#10;          &lt;Box key={i} style={{ flexDirection: 'row', alignItems: 'center', padding: '14px 18px', borderTop: '1px solid rgba(255,255,255,.07)' }}&gt;&#10;            &lt;Text style={{ width: 120, fontSize: 15, fontWeight: 'bold', color: '#FFFFFF', fontFamily: 'PingFang SC' }}&gt;{r[0]}&lt;/Text&gt;&#10;            &lt;Text style={{ width: 240, fontSize: 13, color: 'rgba(255,255,255,.55)', fontFamily: 'Menlo, monospace' }}&gt;{r[1]}&lt;/Text&gt;&#10;            &lt;Text style={{ width: 300, fontSize: 13.5, color: 'rgba(255,255,255,.62)', fontFamily: 'PingFang SC' }}&gt;{r[2]}&lt;/Text&gt;&#10;            &lt;Text style={{ width: 90, fontSize: 15, fontWeight: 'bold', color: r[3].indexOf('/') &gt; -1 ? '#FFD94D' : '#7ED6F5', fontFamily: 'Menlo, monospace', textAlign: 'right' }}&gt;{r[3]}&lt;/Text&gt;&#10;          &lt;/Box&gt;&#10;        ))}&#10;        &lt;Text style={{ fontSize: 12.5, color: 'rgba(255,255,255,.4)', fontFamily: 'PingFang SC', marginTop: 10 }}&gt;测试文件存放于项目 .workbuddy/tests/ —— /tmp 跨会话会被清理，曾重写过两轮。&lt;/Text&gt;&#10;      &lt;/Box&gt;&#10;    &lt;/Box&gt;&#10;    {/* C 页脚 */}&#10;    &lt;Box style={{ height: 32, flexDirection: 'row', alignItems: 'center', justifyContent: 'space-between' }}&gt;&#10;      &lt;Text style={{ fontSize: 13, color: 'rgba(255,255,255,.38)', letterSpacing: '.14em', fontFamily: 'PingFang SC' }}&gt;VEX V5 编程教学仿真 · 工程日志&lt;/Text&gt;&#10;      &lt;Text style={{ fontSize: 13, color: 'rgba(255,255,255,.38)', fontFamily: 'Helvetica Neue', letterSpacing: '.06em' }}&gt;11 / 13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16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609600" y="476250"/>
            <a:ext cx="38100" cy="323850"/>
          </a:xfrm>
          <a:prstGeom prst="rect">
            <a:avLst/>
          </a:prstGeom>
          <a:solidFill>
            <a:srgbClr val="7ED6F5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00100" y="352425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质量保障：可回归的分层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00100" y="762000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TESTING · QUALITY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2095500"/>
            <a:ext cx="127635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7ED6F5"/>
                </a:solidFill>
                <a:latin typeface="Helvetica Neue"/>
                <a:ea typeface="Helvetica Neue"/>
              </a:rPr>
              <a:t>51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2000250" y="3000375"/>
            <a:ext cx="2085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PingFang SC"/>
                <a:ea typeface="PingFang SC"/>
              </a:rPr>
              <a:t>双回归套件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2000250" y="3209925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</a:rPr>
              <a:t>31 SENSOR + 20 CONTROLFLOW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3676650"/>
            <a:ext cx="40290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全部通过。开发期冒烟峰值</a:t>
            </a:r>
            <a:r>
              <a:rPr lang="en-US" sz="1125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 197 </a:t>
            </a:r>
            <a:r>
              <a:rPr lang="zh-CN" sz="1125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项；几何问题（爪穿模、世界坐标）用</a:t>
            </a:r>
            <a:r>
              <a:rPr lang="en-US" sz="1125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 Node + three.min.js </a:t>
            </a:r>
            <a:r>
              <a:rPr lang="zh-CN" sz="1125">
                <a:solidFill>
                  <a:srgbClr val="FFFFFF">
                    <a:alpha val="66000"/>
                  </a:srgbClr>
                </a:solidFill>
                <a:latin typeface="PingFang SC"/>
                <a:ea typeface="PingFang SC"/>
              </a:rPr>
              <a:t>实测断言，而非目测。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38175" y="4448175"/>
            <a:ext cx="4029075" cy="819150"/>
          </a:xfrm>
          <a:prstGeom prst="rect">
            <a:avLst/>
          </a:prstGeom>
          <a:solidFill>
            <a:srgbClr val="FFFFFF">
              <a:alpha val="4500"/>
            </a:srgbClr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609600" y="4448175"/>
            <a:ext cx="4057650" cy="819150"/>
          </a:xfrm>
          <a:custGeom>
            <a:pathLst>
              <a:path w="426" h="86">
                <a:moveTo>
                  <a:pt x="0" y="0"/>
                </a:moveTo>
                <a:lnTo>
                  <a:pt x="3" y="0"/>
                </a:lnTo>
                <a:lnTo>
                  <a:pt x="3" y="86"/>
                </a:lnTo>
                <a:lnTo>
                  <a:pt x="0" y="86"/>
                </a:lnTo>
                <a:close/>
              </a:path>
            </a:pathLst>
          </a:custGeom>
          <a:solidFill>
            <a:srgbClr val="7ED6F5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09625" y="4581525"/>
            <a:ext cx="3657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88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判断：</a:t>
            </a:r>
            <a:r>
              <a:rPr lang="en-US" sz="1088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linter / sim </a:t>
            </a:r>
            <a:r>
              <a:rPr lang="zh-CN" sz="1088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的纯函数分层</a:t>
            </a:r>
            <a:r>
              <a:rPr lang="en-US" sz="1088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 + vm + DOM mock</a:t>
            </a:r>
            <a:r>
              <a:rPr lang="zh-CN" sz="1088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，让三次引擎级重写（队列→执行栈）都做到了零回归。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019675" y="2466975"/>
            <a:ext cx="6562725" cy="390525"/>
          </a:xfrm>
          <a:prstGeom prst="roundRect">
            <a:avLst>
              <a:gd name="adj" fmla="val 9756"/>
            </a:avLst>
          </a:prstGeom>
          <a:solidFill>
            <a:srgbClr val="7ED6F5">
              <a:alpha val="10000"/>
            </a:srgbClr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191125" y="2581275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7ED6F5"/>
                </a:solidFill>
                <a:latin typeface="PingFang SC"/>
                <a:ea typeface="PingFang SC"/>
              </a:rPr>
              <a:t>套件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181725" y="2581275"/>
            <a:ext cx="1990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7ED6F5"/>
                </a:solidFill>
                <a:latin typeface="PingFang SC"/>
                <a:ea typeface="PingFang SC"/>
              </a:rPr>
              <a:t>文件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172450" y="2581275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7ED6F5"/>
                </a:solidFill>
                <a:latin typeface="PingFang SC"/>
                <a:ea typeface="PingFang SC"/>
              </a:rPr>
              <a:t>覆盖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0668000" y="2581275"/>
            <a:ext cx="74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7ED6F5"/>
                </a:solidFill>
                <a:latin typeface="PingFang SC"/>
                <a:ea typeface="PingFang SC"/>
              </a:rPr>
              <a:t>结果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019675" y="2857500"/>
            <a:ext cx="6562725" cy="457200"/>
          </a:xfrm>
          <a:custGeom>
            <a:pathLst>
              <a:path w="689" h="48">
                <a:moveTo>
                  <a:pt x="0" y="0"/>
                </a:moveTo>
                <a:lnTo>
                  <a:pt x="689" y="0"/>
                </a:lnTo>
                <a:lnTo>
                  <a:pt x="68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191125" y="3000375"/>
            <a:ext cx="990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传感器</a:t>
            </a: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 / </a:t>
            </a: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回归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181725" y="3009900"/>
            <a:ext cx="1990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55000"/>
                  </a:srgbClr>
                </a:solidFill>
                <a:latin typeface="Menlo"/>
                <a:ea typeface="Menlo"/>
              </a:rPr>
              <a:t>.workbuddy/tests/test_sensor.js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172450" y="300990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linter · ai · sim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引擎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· DOM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冒烟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0668000" y="3000375"/>
            <a:ext cx="742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 b="1">
                <a:solidFill>
                  <a:srgbClr val="FFD94D"/>
                </a:solidFill>
                <a:latin typeface="Menlo"/>
                <a:ea typeface="Menlo"/>
              </a:rPr>
              <a:t>31 / 31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5019675" y="3305175"/>
            <a:ext cx="6562725" cy="457200"/>
          </a:xfrm>
          <a:custGeom>
            <a:pathLst>
              <a:path w="689" h="48">
                <a:moveTo>
                  <a:pt x="0" y="0"/>
                </a:moveTo>
                <a:lnTo>
                  <a:pt x="689" y="0"/>
                </a:lnTo>
                <a:lnTo>
                  <a:pt x="68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191125" y="3448050"/>
            <a:ext cx="990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控制流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181725" y="3457575"/>
            <a:ext cx="1990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55000"/>
                  </a:srgbClr>
                </a:solidFill>
                <a:latin typeface="Menlo"/>
                <a:ea typeface="Menlo"/>
              </a:rPr>
              <a:t>.workbuddy/tests/test_controlflow.js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172450" y="3457575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if / else / while AST ·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条件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循环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0668000" y="3448050"/>
            <a:ext cx="742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 b="1">
                <a:solidFill>
                  <a:srgbClr val="FFD94D"/>
                </a:solidFill>
                <a:latin typeface="Menlo"/>
                <a:ea typeface="Menlo"/>
              </a:rPr>
              <a:t>20 / 20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019675" y="3752850"/>
            <a:ext cx="6562725" cy="457200"/>
          </a:xfrm>
          <a:custGeom>
            <a:pathLst>
              <a:path w="689" h="48">
                <a:moveTo>
                  <a:pt x="0" y="0"/>
                </a:moveTo>
                <a:lnTo>
                  <a:pt x="689" y="0"/>
                </a:lnTo>
                <a:lnTo>
                  <a:pt x="68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191125" y="3895725"/>
            <a:ext cx="990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几何验证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181725" y="3905250"/>
            <a:ext cx="1990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55000"/>
                  </a:srgbClr>
                </a:solidFill>
                <a:latin typeface="Menlo"/>
                <a:ea typeface="Menlo"/>
              </a:rPr>
              <a:t>Node + three.min.js </a:t>
            </a:r>
            <a:r>
              <a:rPr lang="zh-CN" sz="975">
                <a:solidFill>
                  <a:srgbClr val="FFFFFF">
                    <a:alpha val="55000"/>
                  </a:srgbClr>
                </a:solidFill>
                <a:latin typeface="Menlo"/>
                <a:ea typeface="Menlo"/>
              </a:rPr>
              <a:t>脚本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172450" y="3905250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爪穿模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世界</a:t>
            </a: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 AABB ·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吸附距离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0668000" y="3895725"/>
            <a:ext cx="742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 b="1">
                <a:solidFill>
                  <a:srgbClr val="7ED6F5"/>
                </a:solidFill>
                <a:latin typeface="Menlo"/>
                <a:ea typeface="Menlo"/>
              </a:rPr>
              <a:t>实测通过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5019675" y="4200525"/>
            <a:ext cx="6562725" cy="457200"/>
          </a:xfrm>
          <a:custGeom>
            <a:pathLst>
              <a:path w="689" h="48">
                <a:moveTo>
                  <a:pt x="0" y="0"/>
                </a:moveTo>
                <a:lnTo>
                  <a:pt x="689" y="0"/>
                </a:lnTo>
                <a:lnTo>
                  <a:pt x="689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191125" y="4343400"/>
            <a:ext cx="990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mock </a:t>
            </a:r>
            <a:r>
              <a:rPr lang="zh-CN" sz="1125" b="1">
                <a:solidFill>
                  <a:srgbClr val="FFFFFF"/>
                </a:solidFill>
                <a:latin typeface="PingFang SC"/>
                <a:ea typeface="PingFang SC"/>
              </a:rPr>
              <a:t>经验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181725" y="4352925"/>
            <a:ext cx="1990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55000"/>
                  </a:srgbClr>
                </a:solidFill>
                <a:latin typeface="Menlo"/>
                <a:ea typeface="Menlo"/>
              </a:rPr>
              <a:t>DOM mock </a:t>
            </a:r>
            <a:r>
              <a:rPr lang="zh-CN" sz="975">
                <a:solidFill>
                  <a:srgbClr val="FFFFFF">
                    <a:alpha val="55000"/>
                  </a:srgbClr>
                </a:solidFill>
                <a:latin typeface="Menlo"/>
                <a:ea typeface="Menlo"/>
              </a:rPr>
              <a:t>约定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172450" y="4352925"/>
            <a:ext cx="2495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closest / dataset / toggle(force) </a:t>
            </a:r>
            <a:r>
              <a:rPr lang="zh-CN" sz="1013">
                <a:solidFill>
                  <a:srgbClr val="FFFFFF">
                    <a:alpha val="62000"/>
                  </a:srgbClr>
                </a:solidFill>
                <a:latin typeface="PingFang SC"/>
                <a:ea typeface="PingFang SC"/>
              </a:rPr>
              <a:t>预填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0668000" y="4343400"/>
            <a:ext cx="74295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 b="1">
                <a:solidFill>
                  <a:srgbClr val="7ED6F5"/>
                </a:solidFill>
                <a:latin typeface="Menlo"/>
                <a:ea typeface="Menlo"/>
              </a:rPr>
              <a:t>复用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019675" y="4743450"/>
            <a:ext cx="6562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FFFFF">
                    <a:alpha val="40000"/>
                  </a:srgbClr>
                </a:solidFill>
                <a:latin typeface="PingFang SC"/>
                <a:ea typeface="PingFang SC"/>
              </a:rPr>
              <a:t>测试文件存放于项目</a:t>
            </a:r>
            <a:r>
              <a:rPr lang="en-US" sz="938">
                <a:solidFill>
                  <a:srgbClr val="FFFFFF">
                    <a:alpha val="40000"/>
                  </a:srgbClr>
                </a:solidFill>
                <a:latin typeface="PingFang SC"/>
                <a:ea typeface="PingFang SC"/>
              </a:rPr>
              <a:t> .workbuddy/tests/ —— /tmp </a:t>
            </a:r>
            <a:r>
              <a:rPr lang="zh-CN" sz="938">
                <a:solidFill>
                  <a:srgbClr val="FFFFFF">
                    <a:alpha val="40000"/>
                  </a:srgbClr>
                </a:solidFill>
                <a:latin typeface="PingFang SC"/>
                <a:ea typeface="PingFang SC"/>
              </a:rPr>
              <a:t>跨会话会被清理，曾重写过两轮。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VEX V5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编程教学仿真</a:t>
            </a: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工程日志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1918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Helvetica Neue"/>
                <a:ea typeface="Helvetica Neue"/>
              </a:rPr>
              <a:t>11 / 13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86" name="" descr="&lt;Slide style={{ width: '1280px', height: '720px', padding: 0, background: '#0A0E16' }}&gt;&#10;  &lt;Box style={{ height: '100%', padding: '30px 64px 20px', justifyContent: 'space-between' }}&gt;&#10;    &lt;Box style={{ flexDirection: 'row', alignItems: 'center', gap: 16, height: 74 }}&gt;&#10;      &lt;Box style={{ width: 4, height: 34, background: '#7ED6F5' }} /&gt;&#10;      &lt;Box&gt;&#10;        &lt;Text style={{ fontSize: 34, fontWeight: 'bold', color: '#FFFFFF', letterSpacing: '.02em', fontFamily: 'PingFang SC' }}&gt;当前状态与路线图&lt;/Text&gt;&#10;        &lt;Text style={{ fontSize: 14, color: 'rgba(255,255,255,.45)', letterSpacing: '.2em', fontFamily: 'Helvetica Neue', marginTop: 2 }}&gt;NOW · NEXT&lt;/Text&gt;&#10;      &lt;/Box&gt;&#10;    &lt;/Box&gt;&#10;    {/* B 左 60 状态 */}&#10;    &lt;Box style={{ position: 'absolute', left: 64, top: 140, bottom: 74, width: '34%', flexDirection: 'column', justifyContent: 'center' }}&gt;&#10;      &lt;Text style={{ fontSize: 15, color: 'rgba(126,214,245,.85)', letterSpacing: '.24em', fontFamily: 'Helvetica Neue', marginBottom: 16 }}&gt;CURRENT STATE&lt;/Text&gt;&#10;      {[&#10;        ['14', '开场影片 / 海报', '720p 压缩 · 首帧 poster'],&#10;        ['8', '代码模块', 'editor · linter · sim · scene · ai …'],&#10;        ['51', '回归测试', '31 传感器 + 20 控制流，全绿'],&#10;      ].map((it, i) =&gt; (&#10;        &lt;Box key={i} style={{ flexDirection: 'row', alignItems: 'center', gap: 20, padding: '16px 0', borderTop: i === 0 ? 'none' : '1px solid rgba(255,255,255,.07)' }}&gt;&#10;          &lt;Text style={{ width: 96, fontSize: 52, fontWeight: 'bold', lineHeight: 1, color: i === 2 ? '#FFD94D' : '#7ED6F5', fontFamily: 'Helvetica Neue' }}&gt;{it[0]}&lt;/Text&gt;&#10;          &lt;Box style={{ flex: 1 }}&gt;&#10;            &lt;Text style={{ fontSize: 18, fontWeight: 'bold', color: '#FFFFFF', fontFamily: 'PingFang SC' }}&gt;{it[1]}&lt;/Text&gt;&#10;            &lt;Text style={{ fontSize: 13.5, color: 'rgba(255,255,255,.52)', fontFamily: 'PingFang SC', marginTop: 2 }}&gt;{it[2]}&lt;/Text&gt;&#10;          &lt;/Box&gt;&#10;        &lt;/Box&gt;&#10;      ))}&#10;      &lt;Text style={{ fontSize: 14, color: 'rgba(255,255,255,.55)', lineHeight: 1.7, fontFamily: 'PingFang SC', marginTop: 16 }}&gt;&#10;        形态：单机可用的教学闭环 —— 代码 → 仿真 → 检测 → 积分，全部在浏览器内完成。&#10;      &lt;/Text&gt;&#10;    &lt;/Box&gt;&#10;    {/* 右 40 路线 */}&#10;    &lt;Box style={{ position: 'absolute', right: 64, top: 140, bottom: 74, left: '60%', flexDirection: 'column', justifyContent: 'center' }}&gt;&#10;      &lt;Text style={{ fontSize: 15, color: 'rgba(255,217,77,.9)', letterSpacing: '.24em', fontFamily: 'Helvetica Neue', marginBottom: 16 }}&gt;NEXT · CANDIDATES&lt;/Text&gt;&#10;      {[&#10;        ['多关卡扩展', '不同任务 / 地图 / 机器初始姿态，关卡体系从 1 → N'],&#10;        ['merit 规则细化', '完成次数加成、关卡差异化数值、排行榜'],&#10;        ['models.js 清理', 'xRC 遗留 2.9MB 无引用，可移除减负'],&#10;        ['视频按需加载', '14 支共 302MB，评估按需拉流或缩库'],&#10;      ].map((it, i) =&gt; (&#10;        &lt;Box key={i} style={{ flexDirection: 'row', gap: 14, alignItems: 'flex-start', padding: '13px 0', borderTop: i === 0 ? 'none' : '1px solid rgba(255,255,255,.07)' }}&gt;&#10;          &lt;Text style={{ fontSize: 16, color: '#FFD94D', fontFamily: 'Helvetica Neue', fontWeight: 'bold', marginTop: 1 }}&gt;{'0' + (i + 1)}&lt;/Text&gt;&#10;          &lt;Box style={{ flex: 1 }}&gt;&#10;            &lt;Text style={{ fontSize: 17, fontWeight: 'bold', color: '#FFFFFF', fontFamily: 'PingFang SC' }}&gt;{it[0]}&lt;/Text&gt;&#10;            &lt;Text style={{ fontSize: 14, color: 'rgba(255,255,255,.58)', lineHeight: 1.6, fontFamily: 'PingFang SC', marginTop: 3 }}&gt;{it[1]}&lt;/Text&gt;&#10;          &lt;/Box&gt;&#10;        &lt;/Box&gt;&#10;      ))}&#10;      &lt;Box style={{ marginTop: 14, padding: '14px 18px', background: 'rgba(255,255,255,.04)', borderLeft: '3px solid #FFD94D' }}&gt;&#10;        &lt;Text style={{ fontSize: 14.5, color: 'rgba(255,255,255,.72)', lineHeight: 1.6, fontFamily: 'PingFang SC' }}&gt;判断：主体已可用，下一程投入方向是&quot;内容深度&quot;而非基础能力。&lt;/Text&gt;&#10;      &lt;/Box&gt;&#10;    &lt;/Box&gt;&#10;    {/* C 页脚 */}&#10;    &lt;Box style={{ position: 'absolute', left: 64, right: 64, bottom: 20, height: 32, flexDirection: 'row', alignItems: 'center', justifyContent: 'space-between' }}&gt;&#10;      &lt;Text style={{ fontSize: 13, color: 'rgba(255,255,255,.38)', letterSpacing: '.14em', fontFamily: 'PingFang SC' }}&gt;VEX V5 编程教学仿真 · 工程日志&lt;/Text&gt;&#10;      &lt;Text style={{ fontSize: 13, color: 'rgba(255,255,255,.38)', fontFamily: 'Helvetica Neue', letterSpacing: '.06em' }}&gt;12 / 13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16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609600" y="476250"/>
            <a:ext cx="38100" cy="323850"/>
          </a:xfrm>
          <a:prstGeom prst="rect">
            <a:avLst/>
          </a:prstGeom>
          <a:solidFill>
            <a:srgbClr val="7ED6F5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00100" y="352425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PingFang SC"/>
                <a:ea typeface="PingFang SC"/>
              </a:rPr>
              <a:t>当前状态与路线图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00100" y="762000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45000"/>
                  </a:srgbClr>
                </a:solidFill>
                <a:latin typeface="Helvetica Neue"/>
                <a:ea typeface="Helvetica Neue"/>
              </a:rPr>
              <a:t>NOW · NEXT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1866900"/>
            <a:ext cx="4143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ED6F5">
                    <a:alpha val="85000"/>
                  </a:srgbClr>
                </a:solidFill>
                <a:latin typeface="Helvetica Neue"/>
                <a:ea typeface="Helvetica Neue"/>
              </a:rPr>
              <a:t>CURRENT STATE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09600" y="2343150"/>
            <a:ext cx="9144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7ED6F5"/>
                </a:solidFill>
                <a:latin typeface="Helvetica Neue"/>
                <a:ea typeface="Helvetica Neue"/>
              </a:rPr>
              <a:t>14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714500" y="2447925"/>
            <a:ext cx="3038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开场影片</a:t>
            </a: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 / </a:t>
            </a: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海报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714500" y="2676525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FFFFF">
                    <a:alpha val="52000"/>
                  </a:srgbClr>
                </a:solidFill>
                <a:latin typeface="PingFang SC"/>
                <a:ea typeface="PingFang SC"/>
              </a:rPr>
              <a:t>720p </a:t>
            </a:r>
            <a:r>
              <a:rPr lang="zh-CN" sz="1013">
                <a:solidFill>
                  <a:srgbClr val="FFFFFF">
                    <a:alpha val="52000"/>
                  </a:srgbClr>
                </a:solidFill>
                <a:latin typeface="PingFang SC"/>
                <a:ea typeface="PingFang SC"/>
              </a:rPr>
              <a:t>压缩</a:t>
            </a:r>
            <a:r>
              <a:rPr lang="en-US" sz="1013">
                <a:solidFill>
                  <a:srgbClr val="FFFFFF">
                    <a:alpha val="52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013">
                <a:solidFill>
                  <a:srgbClr val="FFFFFF">
                    <a:alpha val="52000"/>
                  </a:srgbClr>
                </a:solidFill>
                <a:latin typeface="PingFang SC"/>
                <a:ea typeface="PingFang SC"/>
              </a:rPr>
              <a:t>首帧</a:t>
            </a:r>
            <a:r>
              <a:rPr lang="en-US" sz="1013">
                <a:solidFill>
                  <a:srgbClr val="FFFFFF">
                    <a:alpha val="52000"/>
                  </a:srgbClr>
                </a:solidFill>
                <a:latin typeface="PingFang SC"/>
                <a:ea typeface="PingFang SC"/>
              </a:rPr>
              <a:t> poster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09600" y="3095625"/>
            <a:ext cx="4143375" cy="923925"/>
          </a:xfrm>
          <a:custGeom>
            <a:pathLst>
              <a:path w="435" h="97">
                <a:moveTo>
                  <a:pt x="0" y="0"/>
                </a:moveTo>
                <a:lnTo>
                  <a:pt x="435" y="0"/>
                </a:lnTo>
                <a:lnTo>
                  <a:pt x="435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3257550"/>
            <a:ext cx="9144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7ED6F5"/>
                </a:solidFill>
                <a:latin typeface="Helvetica Neue"/>
                <a:ea typeface="Helvetica Neue"/>
              </a:rPr>
              <a:t>8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714500" y="3362325"/>
            <a:ext cx="3038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代码模块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714500" y="3590925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FFFFF">
                    <a:alpha val="52000"/>
                  </a:srgbClr>
                </a:solidFill>
                <a:latin typeface="PingFang SC"/>
                <a:ea typeface="PingFang SC"/>
              </a:rPr>
              <a:t>editor · linter · sim · scene · ai …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09600" y="4010025"/>
            <a:ext cx="4143375" cy="923925"/>
          </a:xfrm>
          <a:custGeom>
            <a:pathLst>
              <a:path w="435" h="97">
                <a:moveTo>
                  <a:pt x="0" y="0"/>
                </a:moveTo>
                <a:lnTo>
                  <a:pt x="435" y="0"/>
                </a:lnTo>
                <a:lnTo>
                  <a:pt x="435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4171950"/>
            <a:ext cx="9144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FFD94D"/>
                </a:solidFill>
                <a:latin typeface="Helvetica Neue"/>
                <a:ea typeface="Helvetica Neue"/>
              </a:rPr>
              <a:t>51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714500" y="4276725"/>
            <a:ext cx="3038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PingFang SC"/>
                <a:ea typeface="PingFang SC"/>
              </a:rPr>
              <a:t>回归测试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714500" y="4505325"/>
            <a:ext cx="303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FFFFFF">
                    <a:alpha val="52000"/>
                  </a:srgbClr>
                </a:solidFill>
                <a:latin typeface="PingFang SC"/>
                <a:ea typeface="PingFang SC"/>
              </a:rPr>
              <a:t>31 </a:t>
            </a:r>
            <a:r>
              <a:rPr lang="zh-CN" sz="1013">
                <a:solidFill>
                  <a:srgbClr val="FFFFFF">
                    <a:alpha val="52000"/>
                  </a:srgbClr>
                </a:solidFill>
                <a:latin typeface="PingFang SC"/>
                <a:ea typeface="PingFang SC"/>
              </a:rPr>
              <a:t>传感器</a:t>
            </a:r>
            <a:r>
              <a:rPr lang="en-US" sz="1013">
                <a:solidFill>
                  <a:srgbClr val="FFFFFF">
                    <a:alpha val="52000"/>
                  </a:srgbClr>
                </a:solidFill>
                <a:latin typeface="PingFang SC"/>
                <a:ea typeface="PingFang SC"/>
              </a:rPr>
              <a:t> + 20 </a:t>
            </a:r>
            <a:r>
              <a:rPr lang="zh-CN" sz="1013">
                <a:solidFill>
                  <a:srgbClr val="FFFFFF">
                    <a:alpha val="52000"/>
                  </a:srgbClr>
                </a:solidFill>
                <a:latin typeface="PingFang SC"/>
                <a:ea typeface="PingFang SC"/>
              </a:rPr>
              <a:t>控制流，全绿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09600" y="5076825"/>
            <a:ext cx="41433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形态：单机可用的教学闭环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 ——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代码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仿真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检测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 →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积分，全部在浏览器内完成。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315200" y="1638300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D94D">
                    <a:alpha val="90000"/>
                  </a:srgbClr>
                </a:solidFill>
                <a:latin typeface="Helvetica Neue"/>
                <a:ea typeface="Helvetica Neue"/>
              </a:rPr>
              <a:t>NEXT · CANDIDATES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315200" y="2095500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D94D"/>
                </a:solidFill>
                <a:latin typeface="Helvetica Neue"/>
                <a:ea typeface="Helvetica Neue"/>
              </a:rPr>
              <a:t>01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620000" y="2085975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多关卡扩展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620000" y="2314575"/>
            <a:ext cx="3962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不同任务</a:t>
            </a:r>
            <a:r>
              <a:rPr lang="en-US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地图</a:t>
            </a:r>
            <a:r>
              <a:rPr lang="en-US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机器初始姿态，关卡体系从</a:t>
            </a:r>
            <a:r>
              <a:rPr lang="en-US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 1 → N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7315200" y="2695575"/>
            <a:ext cx="4267200" cy="752475"/>
          </a:xfrm>
          <a:custGeom>
            <a:pathLst>
              <a:path w="448" h="79">
                <a:moveTo>
                  <a:pt x="0" y="0"/>
                </a:moveTo>
                <a:lnTo>
                  <a:pt x="448" y="0"/>
                </a:lnTo>
                <a:lnTo>
                  <a:pt x="44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315200" y="2838450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D94D"/>
                </a:solidFill>
                <a:latin typeface="Helvetica Neue"/>
                <a:ea typeface="Helvetica Neue"/>
              </a:rPr>
              <a:t>02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620000" y="2828925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merit </a:t>
            </a: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规则细化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620000" y="3057525"/>
            <a:ext cx="3962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完成次数加成、关卡差异化数值、排行榜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315200" y="3438525"/>
            <a:ext cx="4267200" cy="752475"/>
          </a:xfrm>
          <a:custGeom>
            <a:pathLst>
              <a:path w="448" h="79">
                <a:moveTo>
                  <a:pt x="0" y="0"/>
                </a:moveTo>
                <a:lnTo>
                  <a:pt x="448" y="0"/>
                </a:lnTo>
                <a:lnTo>
                  <a:pt x="44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315200" y="3581400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D94D"/>
                </a:solidFill>
                <a:latin typeface="Helvetica Neue"/>
                <a:ea typeface="Helvetica Neue"/>
              </a:rPr>
              <a:t>03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620000" y="3571875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PingFang SC"/>
                <a:ea typeface="PingFang SC"/>
              </a:rPr>
              <a:t>models.js </a:t>
            </a: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清理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620000" y="3800475"/>
            <a:ext cx="3962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xRC </a:t>
            </a:r>
            <a:r>
              <a:rPr lang="zh-CN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遗留</a:t>
            </a:r>
            <a:r>
              <a:rPr lang="en-US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 2.9MB </a:t>
            </a:r>
            <a:r>
              <a:rPr lang="zh-CN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无引用，可移除减负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7315200" y="4181475"/>
            <a:ext cx="4267200" cy="752475"/>
          </a:xfrm>
          <a:custGeom>
            <a:pathLst>
              <a:path w="448" h="79">
                <a:moveTo>
                  <a:pt x="0" y="0"/>
                </a:moveTo>
                <a:lnTo>
                  <a:pt x="448" y="0"/>
                </a:lnTo>
                <a:lnTo>
                  <a:pt x="448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315200" y="4324350"/>
            <a:ext cx="171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D94D"/>
                </a:solidFill>
                <a:latin typeface="Helvetica Neue"/>
                <a:ea typeface="Helvetica Neue"/>
              </a:rPr>
              <a:t>04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620000" y="4314825"/>
            <a:ext cx="3962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PingFang SC"/>
                <a:ea typeface="PingFang SC"/>
              </a:rPr>
              <a:t>视频按需加载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620000" y="4543425"/>
            <a:ext cx="3962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14 </a:t>
            </a:r>
            <a:r>
              <a:rPr lang="zh-CN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支共</a:t>
            </a:r>
            <a:r>
              <a:rPr lang="en-US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 302MB</a:t>
            </a:r>
            <a:r>
              <a:rPr lang="zh-CN" sz="1050">
                <a:solidFill>
                  <a:srgbClr val="FFFFFF">
                    <a:alpha val="58000"/>
                  </a:srgbClr>
                </a:solidFill>
                <a:latin typeface="PingFang SC"/>
                <a:ea typeface="PingFang SC"/>
              </a:rPr>
              <a:t>，评估按需拉流或缩库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7343775" y="5057775"/>
            <a:ext cx="4267200" cy="8001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7315200" y="5057775"/>
            <a:ext cx="4295775" cy="800100"/>
          </a:xfrm>
          <a:custGeom>
            <a:pathLst>
              <a:path w="451" h="84">
                <a:moveTo>
                  <a:pt x="0" y="0"/>
                </a:moveTo>
                <a:lnTo>
                  <a:pt x="3" y="0"/>
                </a:lnTo>
                <a:lnTo>
                  <a:pt x="3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FD94D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515225" y="5191125"/>
            <a:ext cx="38957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判断：主体已可用，下一程投入方向是</a:t>
            </a:r>
            <a:r>
              <a:rPr lang="en-US" sz="1088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088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内容深度</a:t>
            </a:r>
            <a:r>
              <a:rPr lang="en-US" sz="1088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088">
                <a:solidFill>
                  <a:srgbClr val="FFFFFF">
                    <a:alpha val="72000"/>
                  </a:srgbClr>
                </a:solidFill>
                <a:latin typeface="PingFang SC"/>
                <a:ea typeface="PingFang SC"/>
              </a:rPr>
              <a:t>而非基础能力。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" y="6438900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VEX V5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编程教学仿真</a:t>
            </a:r>
            <a:r>
              <a:rPr lang="en-US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975">
                <a:solidFill>
                  <a:srgbClr val="FFFFFF">
                    <a:alpha val="38000"/>
                  </a:srgbClr>
                </a:solidFill>
                <a:latin typeface="PingFang SC"/>
                <a:ea typeface="PingFang SC"/>
              </a:rPr>
              <a:t>工程日志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1191875" y="6438900"/>
            <a:ext cx="390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38000"/>
                  </a:srgbClr>
                </a:solidFill>
                <a:latin typeface="Helvetica Neue"/>
                <a:ea typeface="Helvetica Neue"/>
              </a:rPr>
              <a:t>12 / 13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25" name="" descr="&lt;Slide style={{ width: '1280px', height: '720px', padding: 0, background: '#0A0E16', position: 'relative', overflow: 'hidden' }}&gt;&#10;  &lt;Box style={{ position: 'absolute', top: -240, left: '50%', marginLeft: -360, width: 720, height: 720, borderRadius: 360, background: 'radial-gradient(circle, rgba(126,214,245,0.13) 0%, rgba(126,214,245,0) 62%)' }} /&gt;&#10;  &lt;Box style={{ position: 'absolute', bottom: -280, right: -160, width: 700, height: 700, borderRadius: 350, background: 'radial-gradient(circle, rgba(255,217,77,0.08) 0%, rgba(255,217,77,0) 60%)' }} /&gt;&#10;  &lt;Box style={{ position: 'relative', height: '100%', alignItems: 'center', justifyContent: 'center', gap: 26 }}&gt;&#10;    &lt;Box style={{ width: 56, height: 2, background: 'rgba(126,214,245,.7)' }} /&gt;&#10;    &lt;Text style={{ fontSize: 58, fontWeight: 'bold', color: '#FFFFFF', fontFamily: 'PingFang SC', textAlign: 'center', lineHeight: 1.35, letterSpacing: '.02em' }}&gt;&#10;      把 VEX 编程课，&lt;br /&gt;搬进浏览器。&#10;    &lt;/Text&gt;&#10;    &lt;Text style={{ fontSize: 18, color: 'rgba(126,214,245,.85)', letterSpacing: '.2em', fontFamily: 'PingFang SC', marginTop: 8 }}&gt;代码即指令 · 场景即反馈&lt;/Text&gt;&#10;    &lt;Box style={{ flexDirection: 'row', alignItems: 'center', gap: 16, marginTop: 26 }}&gt;&#10;      &lt;Box style={{ width: 26, height: 1, background: 'rgba(255,255,255,.25)' }} /&gt;&#10;      &lt;Text style={{ fontSize: 14, color: 'rgba(255,255,255,.5)', letterSpacing: '.22em', fontFamily: 'Helvetica Neue' }}&gt;VEX-SIM · PROJECT LOG · 2026.08 — 09&lt;/Text&gt;&#10;      &lt;Box style={{ width: 26, height: 1, background: 'rgba(255,255,255,.25)' }} /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E16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2667000" y="-2286000"/>
            <a:ext cx="6858000" cy="6858000"/>
          </a:xfrm>
          <a:custGeom>
            <a:pathLst>
              <a:path w="720" h="720">
                <a:moveTo>
                  <a:pt x="701" y="245"/>
                </a:moveTo>
                <a:lnTo>
                  <a:pt x="704" y="253"/>
                </a:lnTo>
                <a:lnTo>
                  <a:pt x="706" y="261"/>
                </a:lnTo>
                <a:lnTo>
                  <a:pt x="709" y="270"/>
                </a:lnTo>
                <a:lnTo>
                  <a:pt x="711" y="279"/>
                </a:lnTo>
                <a:lnTo>
                  <a:pt x="713" y="287"/>
                </a:lnTo>
                <a:lnTo>
                  <a:pt x="714" y="296"/>
                </a:lnTo>
                <a:lnTo>
                  <a:pt x="716" y="305"/>
                </a:lnTo>
                <a:lnTo>
                  <a:pt x="717" y="314"/>
                </a:lnTo>
                <a:lnTo>
                  <a:pt x="718" y="323"/>
                </a:lnTo>
                <a:lnTo>
                  <a:pt x="719" y="332"/>
                </a:lnTo>
                <a:lnTo>
                  <a:pt x="720" y="341"/>
                </a:lnTo>
                <a:lnTo>
                  <a:pt x="720" y="351"/>
                </a:lnTo>
                <a:lnTo>
                  <a:pt x="720" y="360"/>
                </a:lnTo>
                <a:lnTo>
                  <a:pt x="720" y="369"/>
                </a:lnTo>
                <a:lnTo>
                  <a:pt x="720" y="379"/>
                </a:lnTo>
                <a:lnTo>
                  <a:pt x="719" y="388"/>
                </a:lnTo>
                <a:lnTo>
                  <a:pt x="718" y="397"/>
                </a:lnTo>
                <a:lnTo>
                  <a:pt x="717" y="406"/>
                </a:lnTo>
                <a:lnTo>
                  <a:pt x="716" y="415"/>
                </a:lnTo>
                <a:lnTo>
                  <a:pt x="714" y="424"/>
                </a:lnTo>
                <a:lnTo>
                  <a:pt x="713" y="433"/>
                </a:lnTo>
                <a:lnTo>
                  <a:pt x="711" y="441"/>
                </a:lnTo>
                <a:lnTo>
                  <a:pt x="709" y="450"/>
                </a:lnTo>
                <a:lnTo>
                  <a:pt x="706" y="459"/>
                </a:lnTo>
                <a:lnTo>
                  <a:pt x="704" y="467"/>
                </a:lnTo>
                <a:lnTo>
                  <a:pt x="701" y="475"/>
                </a:lnTo>
                <a:lnTo>
                  <a:pt x="698" y="484"/>
                </a:lnTo>
                <a:lnTo>
                  <a:pt x="695" y="492"/>
                </a:lnTo>
                <a:lnTo>
                  <a:pt x="692" y="500"/>
                </a:lnTo>
                <a:lnTo>
                  <a:pt x="688" y="508"/>
                </a:lnTo>
                <a:lnTo>
                  <a:pt x="684" y="516"/>
                </a:lnTo>
                <a:lnTo>
                  <a:pt x="681" y="524"/>
                </a:lnTo>
                <a:lnTo>
                  <a:pt x="677" y="532"/>
                </a:lnTo>
                <a:lnTo>
                  <a:pt x="672" y="539"/>
                </a:lnTo>
                <a:lnTo>
                  <a:pt x="668" y="547"/>
                </a:lnTo>
                <a:lnTo>
                  <a:pt x="663" y="554"/>
                </a:lnTo>
                <a:lnTo>
                  <a:pt x="658" y="561"/>
                </a:lnTo>
                <a:lnTo>
                  <a:pt x="654" y="568"/>
                </a:lnTo>
                <a:lnTo>
                  <a:pt x="648" y="575"/>
                </a:lnTo>
                <a:lnTo>
                  <a:pt x="643" y="582"/>
                </a:lnTo>
                <a:lnTo>
                  <a:pt x="638" y="589"/>
                </a:lnTo>
                <a:lnTo>
                  <a:pt x="632" y="596"/>
                </a:lnTo>
                <a:lnTo>
                  <a:pt x="626" y="602"/>
                </a:lnTo>
                <a:lnTo>
                  <a:pt x="621" y="608"/>
                </a:lnTo>
                <a:lnTo>
                  <a:pt x="615" y="615"/>
                </a:lnTo>
                <a:lnTo>
                  <a:pt x="608" y="621"/>
                </a:lnTo>
                <a:lnTo>
                  <a:pt x="602" y="626"/>
                </a:lnTo>
                <a:lnTo>
                  <a:pt x="596" y="632"/>
                </a:lnTo>
                <a:lnTo>
                  <a:pt x="589" y="638"/>
                </a:lnTo>
                <a:lnTo>
                  <a:pt x="582" y="643"/>
                </a:lnTo>
                <a:lnTo>
                  <a:pt x="575" y="648"/>
                </a:lnTo>
                <a:lnTo>
                  <a:pt x="568" y="654"/>
                </a:lnTo>
                <a:lnTo>
                  <a:pt x="561" y="658"/>
                </a:lnTo>
                <a:lnTo>
                  <a:pt x="554" y="663"/>
                </a:lnTo>
                <a:lnTo>
                  <a:pt x="547" y="668"/>
                </a:lnTo>
                <a:lnTo>
                  <a:pt x="539" y="672"/>
                </a:lnTo>
                <a:lnTo>
                  <a:pt x="532" y="677"/>
                </a:lnTo>
                <a:lnTo>
                  <a:pt x="524" y="681"/>
                </a:lnTo>
                <a:lnTo>
                  <a:pt x="516" y="684"/>
                </a:lnTo>
                <a:lnTo>
                  <a:pt x="508" y="688"/>
                </a:lnTo>
                <a:lnTo>
                  <a:pt x="500" y="692"/>
                </a:lnTo>
                <a:lnTo>
                  <a:pt x="492" y="695"/>
                </a:lnTo>
                <a:lnTo>
                  <a:pt x="484" y="698"/>
                </a:lnTo>
                <a:lnTo>
                  <a:pt x="475" y="701"/>
                </a:lnTo>
                <a:lnTo>
                  <a:pt x="467" y="704"/>
                </a:lnTo>
                <a:lnTo>
                  <a:pt x="459" y="706"/>
                </a:lnTo>
                <a:lnTo>
                  <a:pt x="450" y="709"/>
                </a:lnTo>
                <a:lnTo>
                  <a:pt x="441" y="711"/>
                </a:lnTo>
                <a:lnTo>
                  <a:pt x="433" y="713"/>
                </a:lnTo>
                <a:lnTo>
                  <a:pt x="424" y="714"/>
                </a:lnTo>
                <a:lnTo>
                  <a:pt x="415" y="716"/>
                </a:lnTo>
                <a:lnTo>
                  <a:pt x="406" y="717"/>
                </a:lnTo>
                <a:lnTo>
                  <a:pt x="397" y="718"/>
                </a:lnTo>
                <a:lnTo>
                  <a:pt x="388" y="719"/>
                </a:lnTo>
                <a:lnTo>
                  <a:pt x="379" y="720"/>
                </a:lnTo>
                <a:lnTo>
                  <a:pt x="369" y="720"/>
                </a:lnTo>
                <a:lnTo>
                  <a:pt x="360" y="720"/>
                </a:lnTo>
                <a:lnTo>
                  <a:pt x="351" y="720"/>
                </a:lnTo>
                <a:lnTo>
                  <a:pt x="341" y="720"/>
                </a:lnTo>
                <a:lnTo>
                  <a:pt x="332" y="719"/>
                </a:lnTo>
                <a:lnTo>
                  <a:pt x="323" y="718"/>
                </a:lnTo>
                <a:lnTo>
                  <a:pt x="314" y="717"/>
                </a:lnTo>
                <a:lnTo>
                  <a:pt x="305" y="716"/>
                </a:lnTo>
                <a:lnTo>
                  <a:pt x="296" y="714"/>
                </a:lnTo>
                <a:lnTo>
                  <a:pt x="287" y="713"/>
                </a:lnTo>
                <a:lnTo>
                  <a:pt x="279" y="711"/>
                </a:lnTo>
                <a:lnTo>
                  <a:pt x="270" y="709"/>
                </a:lnTo>
                <a:lnTo>
                  <a:pt x="261" y="706"/>
                </a:lnTo>
                <a:lnTo>
                  <a:pt x="253" y="704"/>
                </a:lnTo>
                <a:lnTo>
                  <a:pt x="245" y="701"/>
                </a:lnTo>
                <a:lnTo>
                  <a:pt x="236" y="698"/>
                </a:lnTo>
                <a:lnTo>
                  <a:pt x="228" y="695"/>
                </a:lnTo>
                <a:lnTo>
                  <a:pt x="220" y="692"/>
                </a:lnTo>
                <a:lnTo>
                  <a:pt x="212" y="688"/>
                </a:lnTo>
                <a:lnTo>
                  <a:pt x="204" y="684"/>
                </a:lnTo>
                <a:lnTo>
                  <a:pt x="196" y="681"/>
                </a:lnTo>
                <a:lnTo>
                  <a:pt x="188" y="677"/>
                </a:lnTo>
                <a:lnTo>
                  <a:pt x="181" y="672"/>
                </a:lnTo>
                <a:lnTo>
                  <a:pt x="173" y="668"/>
                </a:lnTo>
                <a:lnTo>
                  <a:pt x="166" y="663"/>
                </a:lnTo>
                <a:lnTo>
                  <a:pt x="159" y="658"/>
                </a:lnTo>
                <a:lnTo>
                  <a:pt x="152" y="654"/>
                </a:lnTo>
                <a:lnTo>
                  <a:pt x="145" y="648"/>
                </a:lnTo>
                <a:lnTo>
                  <a:pt x="138" y="643"/>
                </a:lnTo>
                <a:lnTo>
                  <a:pt x="131" y="638"/>
                </a:lnTo>
                <a:lnTo>
                  <a:pt x="124" y="632"/>
                </a:lnTo>
                <a:lnTo>
                  <a:pt x="118" y="626"/>
                </a:lnTo>
                <a:lnTo>
                  <a:pt x="112" y="621"/>
                </a:lnTo>
                <a:lnTo>
                  <a:pt x="105" y="615"/>
                </a:lnTo>
                <a:lnTo>
                  <a:pt x="99" y="608"/>
                </a:lnTo>
                <a:lnTo>
                  <a:pt x="94" y="602"/>
                </a:lnTo>
                <a:lnTo>
                  <a:pt x="88" y="596"/>
                </a:lnTo>
                <a:lnTo>
                  <a:pt x="82" y="589"/>
                </a:lnTo>
                <a:lnTo>
                  <a:pt x="77" y="582"/>
                </a:lnTo>
                <a:lnTo>
                  <a:pt x="72" y="575"/>
                </a:lnTo>
                <a:lnTo>
                  <a:pt x="66" y="568"/>
                </a:lnTo>
                <a:lnTo>
                  <a:pt x="62" y="561"/>
                </a:lnTo>
                <a:lnTo>
                  <a:pt x="57" y="554"/>
                </a:lnTo>
                <a:lnTo>
                  <a:pt x="52" y="547"/>
                </a:lnTo>
                <a:lnTo>
                  <a:pt x="48" y="539"/>
                </a:lnTo>
                <a:lnTo>
                  <a:pt x="43" y="532"/>
                </a:lnTo>
                <a:lnTo>
                  <a:pt x="39" y="524"/>
                </a:lnTo>
                <a:lnTo>
                  <a:pt x="36" y="516"/>
                </a:lnTo>
                <a:lnTo>
                  <a:pt x="32" y="508"/>
                </a:lnTo>
                <a:lnTo>
                  <a:pt x="28" y="500"/>
                </a:lnTo>
                <a:lnTo>
                  <a:pt x="25" y="492"/>
                </a:lnTo>
                <a:lnTo>
                  <a:pt x="22" y="484"/>
                </a:lnTo>
                <a:lnTo>
                  <a:pt x="19" y="475"/>
                </a:lnTo>
                <a:lnTo>
                  <a:pt x="16" y="467"/>
                </a:lnTo>
                <a:lnTo>
                  <a:pt x="14" y="459"/>
                </a:lnTo>
                <a:lnTo>
                  <a:pt x="11" y="450"/>
                </a:lnTo>
                <a:lnTo>
                  <a:pt x="9" y="441"/>
                </a:lnTo>
                <a:lnTo>
                  <a:pt x="7" y="433"/>
                </a:lnTo>
                <a:lnTo>
                  <a:pt x="6" y="424"/>
                </a:lnTo>
                <a:lnTo>
                  <a:pt x="4" y="415"/>
                </a:lnTo>
                <a:lnTo>
                  <a:pt x="3" y="406"/>
                </a:lnTo>
                <a:lnTo>
                  <a:pt x="2" y="397"/>
                </a:lnTo>
                <a:lnTo>
                  <a:pt x="1" y="388"/>
                </a:lnTo>
                <a:lnTo>
                  <a:pt x="0" y="379"/>
                </a:lnTo>
                <a:lnTo>
                  <a:pt x="0" y="369"/>
                </a:lnTo>
                <a:lnTo>
                  <a:pt x="0" y="360"/>
                </a:lnTo>
                <a:lnTo>
                  <a:pt x="0" y="351"/>
                </a:lnTo>
                <a:lnTo>
                  <a:pt x="0" y="341"/>
                </a:lnTo>
                <a:lnTo>
                  <a:pt x="1" y="332"/>
                </a:lnTo>
                <a:lnTo>
                  <a:pt x="2" y="323"/>
                </a:lnTo>
                <a:lnTo>
                  <a:pt x="3" y="314"/>
                </a:lnTo>
                <a:lnTo>
                  <a:pt x="4" y="305"/>
                </a:lnTo>
                <a:lnTo>
                  <a:pt x="6" y="296"/>
                </a:lnTo>
                <a:lnTo>
                  <a:pt x="7" y="287"/>
                </a:lnTo>
                <a:lnTo>
                  <a:pt x="9" y="279"/>
                </a:lnTo>
                <a:lnTo>
                  <a:pt x="11" y="270"/>
                </a:lnTo>
                <a:lnTo>
                  <a:pt x="14" y="261"/>
                </a:lnTo>
                <a:lnTo>
                  <a:pt x="16" y="253"/>
                </a:lnTo>
                <a:lnTo>
                  <a:pt x="19" y="245"/>
                </a:lnTo>
                <a:lnTo>
                  <a:pt x="21" y="240"/>
                </a:lnTo>
                <a:lnTo>
                  <a:pt x="699" y="240"/>
                </a:lnTo>
                <a:close/>
              </a:path>
            </a:pathLst>
          </a:custGeom>
          <a:gradFill>
            <a:gsLst>
              <a:gs pos="0">
                <a:srgbClr val="7ED6F5">
                  <a:alpha val="13000"/>
                </a:srgbClr>
              </a:gs>
              <a:gs pos="62000">
                <a:srgbClr val="7ED6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7048500" y="2857500"/>
            <a:ext cx="6667500" cy="6667500"/>
          </a:xfrm>
          <a:custGeom>
            <a:pathLst>
              <a:path w="700" h="700">
                <a:moveTo>
                  <a:pt x="359" y="0"/>
                </a:moveTo>
                <a:lnTo>
                  <a:pt x="368" y="0"/>
                </a:lnTo>
                <a:lnTo>
                  <a:pt x="377" y="1"/>
                </a:lnTo>
                <a:lnTo>
                  <a:pt x="386" y="2"/>
                </a:lnTo>
                <a:lnTo>
                  <a:pt x="395" y="3"/>
                </a:lnTo>
                <a:lnTo>
                  <a:pt x="403" y="4"/>
                </a:lnTo>
                <a:lnTo>
                  <a:pt x="412" y="5"/>
                </a:lnTo>
                <a:lnTo>
                  <a:pt x="421" y="7"/>
                </a:lnTo>
                <a:lnTo>
                  <a:pt x="429" y="9"/>
                </a:lnTo>
                <a:lnTo>
                  <a:pt x="437" y="11"/>
                </a:lnTo>
                <a:lnTo>
                  <a:pt x="446" y="13"/>
                </a:lnTo>
                <a:lnTo>
                  <a:pt x="454" y="16"/>
                </a:lnTo>
                <a:lnTo>
                  <a:pt x="462" y="18"/>
                </a:lnTo>
                <a:lnTo>
                  <a:pt x="470" y="21"/>
                </a:lnTo>
                <a:lnTo>
                  <a:pt x="478" y="24"/>
                </a:lnTo>
                <a:lnTo>
                  <a:pt x="486" y="28"/>
                </a:lnTo>
                <a:lnTo>
                  <a:pt x="494" y="31"/>
                </a:lnTo>
                <a:lnTo>
                  <a:pt x="502" y="35"/>
                </a:lnTo>
                <a:lnTo>
                  <a:pt x="509" y="38"/>
                </a:lnTo>
                <a:lnTo>
                  <a:pt x="517" y="42"/>
                </a:lnTo>
                <a:lnTo>
                  <a:pt x="524" y="46"/>
                </a:lnTo>
                <a:lnTo>
                  <a:pt x="531" y="51"/>
                </a:lnTo>
                <a:lnTo>
                  <a:pt x="539" y="55"/>
                </a:lnTo>
                <a:lnTo>
                  <a:pt x="540" y="56"/>
                </a:lnTo>
                <a:lnTo>
                  <a:pt x="540" y="420"/>
                </a:lnTo>
                <a:lnTo>
                  <a:pt x="7" y="420"/>
                </a:lnTo>
                <a:lnTo>
                  <a:pt x="5" y="412"/>
                </a:lnTo>
                <a:lnTo>
                  <a:pt x="4" y="403"/>
                </a:lnTo>
                <a:lnTo>
                  <a:pt x="3" y="395"/>
                </a:lnTo>
                <a:lnTo>
                  <a:pt x="2" y="386"/>
                </a:lnTo>
                <a:lnTo>
                  <a:pt x="1" y="377"/>
                </a:lnTo>
                <a:lnTo>
                  <a:pt x="0" y="368"/>
                </a:lnTo>
                <a:lnTo>
                  <a:pt x="0" y="359"/>
                </a:lnTo>
                <a:lnTo>
                  <a:pt x="0" y="350"/>
                </a:lnTo>
                <a:lnTo>
                  <a:pt x="0" y="341"/>
                </a:lnTo>
                <a:lnTo>
                  <a:pt x="0" y="332"/>
                </a:lnTo>
                <a:lnTo>
                  <a:pt x="1" y="323"/>
                </a:lnTo>
                <a:lnTo>
                  <a:pt x="2" y="314"/>
                </a:lnTo>
                <a:lnTo>
                  <a:pt x="3" y="305"/>
                </a:lnTo>
                <a:lnTo>
                  <a:pt x="4" y="297"/>
                </a:lnTo>
                <a:lnTo>
                  <a:pt x="5" y="288"/>
                </a:lnTo>
                <a:lnTo>
                  <a:pt x="7" y="280"/>
                </a:lnTo>
                <a:lnTo>
                  <a:pt x="9" y="271"/>
                </a:lnTo>
                <a:lnTo>
                  <a:pt x="11" y="263"/>
                </a:lnTo>
                <a:lnTo>
                  <a:pt x="13" y="254"/>
                </a:lnTo>
                <a:lnTo>
                  <a:pt x="16" y="246"/>
                </a:lnTo>
                <a:lnTo>
                  <a:pt x="18" y="238"/>
                </a:lnTo>
                <a:lnTo>
                  <a:pt x="21" y="230"/>
                </a:lnTo>
                <a:lnTo>
                  <a:pt x="24" y="222"/>
                </a:lnTo>
                <a:lnTo>
                  <a:pt x="28" y="214"/>
                </a:lnTo>
                <a:lnTo>
                  <a:pt x="31" y="206"/>
                </a:lnTo>
                <a:lnTo>
                  <a:pt x="35" y="198"/>
                </a:lnTo>
                <a:lnTo>
                  <a:pt x="38" y="191"/>
                </a:lnTo>
                <a:lnTo>
                  <a:pt x="42" y="183"/>
                </a:lnTo>
                <a:lnTo>
                  <a:pt x="46" y="176"/>
                </a:lnTo>
                <a:lnTo>
                  <a:pt x="51" y="169"/>
                </a:lnTo>
                <a:lnTo>
                  <a:pt x="55" y="161"/>
                </a:lnTo>
                <a:lnTo>
                  <a:pt x="60" y="154"/>
                </a:lnTo>
                <a:lnTo>
                  <a:pt x="65" y="147"/>
                </a:lnTo>
                <a:lnTo>
                  <a:pt x="70" y="141"/>
                </a:lnTo>
                <a:lnTo>
                  <a:pt x="75" y="134"/>
                </a:lnTo>
                <a:lnTo>
                  <a:pt x="80" y="127"/>
                </a:lnTo>
                <a:lnTo>
                  <a:pt x="85" y="121"/>
                </a:lnTo>
                <a:lnTo>
                  <a:pt x="91" y="115"/>
                </a:lnTo>
                <a:lnTo>
                  <a:pt x="97" y="109"/>
                </a:lnTo>
                <a:lnTo>
                  <a:pt x="103" y="103"/>
                </a:lnTo>
                <a:lnTo>
                  <a:pt x="109" y="97"/>
                </a:lnTo>
                <a:lnTo>
                  <a:pt x="115" y="91"/>
                </a:lnTo>
                <a:lnTo>
                  <a:pt x="121" y="85"/>
                </a:lnTo>
                <a:lnTo>
                  <a:pt x="127" y="80"/>
                </a:lnTo>
                <a:lnTo>
                  <a:pt x="134" y="75"/>
                </a:lnTo>
                <a:lnTo>
                  <a:pt x="141" y="70"/>
                </a:lnTo>
                <a:lnTo>
                  <a:pt x="147" y="65"/>
                </a:lnTo>
                <a:lnTo>
                  <a:pt x="154" y="60"/>
                </a:lnTo>
                <a:lnTo>
                  <a:pt x="161" y="55"/>
                </a:lnTo>
                <a:lnTo>
                  <a:pt x="169" y="51"/>
                </a:lnTo>
                <a:lnTo>
                  <a:pt x="176" y="46"/>
                </a:lnTo>
                <a:lnTo>
                  <a:pt x="183" y="42"/>
                </a:lnTo>
                <a:lnTo>
                  <a:pt x="191" y="38"/>
                </a:lnTo>
                <a:lnTo>
                  <a:pt x="198" y="35"/>
                </a:lnTo>
                <a:lnTo>
                  <a:pt x="206" y="31"/>
                </a:lnTo>
                <a:lnTo>
                  <a:pt x="214" y="28"/>
                </a:lnTo>
                <a:lnTo>
                  <a:pt x="222" y="24"/>
                </a:lnTo>
                <a:lnTo>
                  <a:pt x="230" y="21"/>
                </a:lnTo>
                <a:lnTo>
                  <a:pt x="238" y="18"/>
                </a:lnTo>
                <a:lnTo>
                  <a:pt x="246" y="16"/>
                </a:lnTo>
                <a:lnTo>
                  <a:pt x="254" y="13"/>
                </a:lnTo>
                <a:lnTo>
                  <a:pt x="263" y="11"/>
                </a:lnTo>
                <a:lnTo>
                  <a:pt x="271" y="9"/>
                </a:lnTo>
                <a:lnTo>
                  <a:pt x="280" y="7"/>
                </a:lnTo>
                <a:lnTo>
                  <a:pt x="288" y="5"/>
                </a:lnTo>
                <a:lnTo>
                  <a:pt x="297" y="4"/>
                </a:lnTo>
                <a:lnTo>
                  <a:pt x="305" y="3"/>
                </a:lnTo>
                <a:lnTo>
                  <a:pt x="314" y="2"/>
                </a:lnTo>
                <a:lnTo>
                  <a:pt x="323" y="1"/>
                </a:lnTo>
                <a:lnTo>
                  <a:pt x="332" y="0"/>
                </a:lnTo>
                <a:lnTo>
                  <a:pt x="341" y="0"/>
                </a:lnTo>
                <a:lnTo>
                  <a:pt x="350" y="0"/>
                </a:lnTo>
                <a:close/>
              </a:path>
            </a:pathLst>
          </a:custGeom>
          <a:gradFill>
            <a:gsLst>
              <a:gs pos="0">
                <a:srgbClr val="FFD94D">
                  <a:alpha val="8000"/>
                </a:srgbClr>
              </a:gs>
              <a:gs pos="60000">
                <a:srgbClr val="FFD94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5829300" y="1809750"/>
            <a:ext cx="533400" cy="19050"/>
          </a:xfrm>
          <a:prstGeom prst="rect">
            <a:avLst/>
          </a:prstGeom>
          <a:solidFill>
            <a:srgbClr val="7ED6F5">
              <a:alpha val="70000"/>
            </a:srgbClr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990975" y="2076450"/>
            <a:ext cx="4219575" cy="179070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4350" b="1">
                <a:solidFill>
                  <a:srgbClr val="FFFFFF"/>
                </a:solidFill>
                <a:latin typeface="PingFang SC"/>
                <a:ea typeface="PingFang SC"/>
              </a:rPr>
              <a:t>把</a:t>
            </a:r>
            <a:r>
              <a:rPr lang="en-US" sz="4350" b="1">
                <a:solidFill>
                  <a:srgbClr val="FFFFFF"/>
                </a:solidFill>
                <a:latin typeface="PingFang SC"/>
                <a:ea typeface="PingFang SC"/>
              </a:rPr>
              <a:t> VEX </a:t>
            </a:r>
            <a:r>
              <a:rPr lang="zh-CN" sz="4350" b="1">
                <a:solidFill>
                  <a:srgbClr val="FFFFFF"/>
                </a:solidFill>
                <a:latin typeface="PingFang SC"/>
                <a:ea typeface="PingFang SC"/>
              </a:rPr>
              <a:t>编程课，</a:t>
            </a:r>
            <a:endParaRPr/>
          </a:p>
          <a:p>
            <a:pPr algn="ctr">
              <a:lnSpc>
                <a:spcPct val="135000"/>
              </a:lnSpc>
            </a:pPr>
            <a:r>
              <a:rPr lang="zh-CN" sz="4350" b="1">
                <a:solidFill>
                  <a:srgbClr val="FFFFFF"/>
                </a:solidFill>
                <a:latin typeface="PingFang SC"/>
                <a:ea typeface="PingFang SC"/>
              </a:rPr>
              <a:t>搬进浏览器。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143500" y="4191000"/>
            <a:ext cx="1914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7ED6F5">
                    <a:alpha val="85000"/>
                  </a:srgbClr>
                </a:solidFill>
                <a:latin typeface="PingFang SC"/>
                <a:ea typeface="PingFang SC"/>
              </a:rPr>
              <a:t>代码即指令</a:t>
            </a:r>
            <a:r>
              <a:rPr lang="en-US" sz="1350">
                <a:solidFill>
                  <a:srgbClr val="7ED6F5">
                    <a:alpha val="85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350">
                <a:solidFill>
                  <a:srgbClr val="7ED6F5">
                    <a:alpha val="85000"/>
                  </a:srgbClr>
                </a:solidFill>
                <a:latin typeface="PingFang SC"/>
                <a:ea typeface="PingFang SC"/>
              </a:rPr>
              <a:t>场景即反馈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4438650" y="4972050"/>
            <a:ext cx="24765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838700" y="4895850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Helvetica Neue"/>
                <a:ea typeface="Helvetica Neue"/>
              </a:rPr>
              <a:t>VEX-SIM · PROJECT LOG · 2026.08 — 09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7505700" y="4972050"/>
            <a:ext cx="24765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2026-09-06T10:34:18Z</dcterms:created>
  <dcterms:modified xsi:type="dcterms:W3CDTF">2026-09-06T10:34:18Z</dcterms:modified>
</cp:coreProperties>
</file>